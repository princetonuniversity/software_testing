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30"/>
  </p:notesMasterIdLst>
  <p:sldIdLst>
    <p:sldId id="256" r:id="rId2"/>
    <p:sldId id="273" r:id="rId3"/>
    <p:sldId id="257" r:id="rId4"/>
    <p:sldId id="283" r:id="rId5"/>
    <p:sldId id="258" r:id="rId6"/>
    <p:sldId id="282" r:id="rId7"/>
    <p:sldId id="259" r:id="rId8"/>
    <p:sldId id="260" r:id="rId9"/>
    <p:sldId id="261" r:id="rId10"/>
    <p:sldId id="263" r:id="rId11"/>
    <p:sldId id="277" r:id="rId12"/>
    <p:sldId id="280" r:id="rId13"/>
    <p:sldId id="272" r:id="rId14"/>
    <p:sldId id="278" r:id="rId15"/>
    <p:sldId id="265" r:id="rId16"/>
    <p:sldId id="279" r:id="rId17"/>
    <p:sldId id="266" r:id="rId18"/>
    <p:sldId id="267" r:id="rId19"/>
    <p:sldId id="268" r:id="rId20"/>
    <p:sldId id="262" r:id="rId21"/>
    <p:sldId id="276" r:id="rId22"/>
    <p:sldId id="274" r:id="rId23"/>
    <p:sldId id="271" r:id="rId24"/>
    <p:sldId id="264" r:id="rId25"/>
    <p:sldId id="275" r:id="rId26"/>
    <p:sldId id="281" r:id="rId27"/>
    <p:sldId id="269" r:id="rId28"/>
    <p:sldId id="270" r:id="rId2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8966"/>
    <p:restoredTop sz="86633"/>
  </p:normalViewPr>
  <p:slideViewPr>
    <p:cSldViewPr snapToGrid="0">
      <p:cViewPr varScale="1">
        <p:scale>
          <a:sx n="119" d="100"/>
          <a:sy n="119" d="100"/>
        </p:scale>
        <p:origin x="1280" y="192"/>
      </p:cViewPr>
      <p:guideLst/>
    </p:cSldViewPr>
  </p:slideViewPr>
  <p:outlineViewPr>
    <p:cViewPr>
      <p:scale>
        <a:sx n="33" d="100"/>
        <a:sy n="33" d="100"/>
      </p:scale>
      <p:origin x="0" y="-9584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F6A6A60-C693-BC49-85A7-98B318EF45A1}" type="datetimeFigureOut">
              <a:rPr lang="en-US" smtClean="0"/>
              <a:t>1/14/26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6CD89F0-D00C-704A-A77B-5E0A27D974E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05359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CD89F0-D00C-704A-A77B-5E0A27D974ED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151454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CD89F0-D00C-704A-A77B-5E0A27D974ED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932524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CD89F0-D00C-704A-A77B-5E0A27D974ED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43327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CD89F0-D00C-704A-A77B-5E0A27D974ED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894705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CD89F0-D00C-704A-A77B-5E0A27D974ED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020967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CD89F0-D00C-704A-A77B-5E0A27D974ED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483751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CD89F0-D00C-704A-A77B-5E0A27D974ED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238338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CD89F0-D00C-704A-A77B-5E0A27D974ED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582277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4242851"/>
            <a:ext cx="8968084" cy="275942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11716" y="4243845"/>
            <a:ext cx="3077108" cy="27694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0" y="2590078"/>
            <a:ext cx="8968085" cy="1660332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9111715" y="2590078"/>
            <a:ext cx="3077109" cy="16603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0322" y="2733709"/>
            <a:ext cx="8144134" cy="1373070"/>
          </a:xfrm>
        </p:spPr>
        <p:txBody>
          <a:bodyPr anchor="b">
            <a:noAutofit/>
          </a:bodyPr>
          <a:lstStyle>
            <a:lvl1pPr algn="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0322" y="4394039"/>
            <a:ext cx="8144134" cy="1117687"/>
          </a:xfrm>
        </p:spPr>
        <p:txBody>
          <a:bodyPr>
            <a:normAutofit/>
          </a:bodyPr>
          <a:lstStyle>
            <a:lvl1pPr marL="0" indent="0" algn="r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ABE3C1-DBE1-495D-B57B-2849774B866A}" type="datetimeFigureOut">
              <a:rPr lang="en-US" dirty="0"/>
              <a:t>1/14/26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255346" y="2750337"/>
            <a:ext cx="1171888" cy="1356442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6" name="Picture 15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" name="Rectangle 17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DE42F4-6EEF-4EF7-8ED4-2208F0F89A08}" type="datetimeFigureOut">
              <a:rPr lang="en-US" dirty="0"/>
              <a:t>1/14/26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4086907"/>
            <a:ext cx="10437812" cy="321164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4" y="4087901"/>
            <a:ext cx="1602997" cy="14427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-2" y="2726267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10585825" y="2726267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2" y="2869895"/>
            <a:ext cx="9613860" cy="1090788"/>
          </a:xfrm>
        </p:spPr>
        <p:txBody>
          <a:bodyPr anchor="ctr">
            <a:normAutofit/>
          </a:bodyPr>
          <a:lstStyle>
            <a:lvl1pPr algn="r"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0322" y="4232171"/>
            <a:ext cx="9613860" cy="1704017"/>
          </a:xfrm>
        </p:spPr>
        <p:txBody>
          <a:bodyPr>
            <a:normAutofit/>
          </a:bodyPr>
          <a:lstStyle>
            <a:lvl1pPr marL="0" indent="0" algn="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578ACC-22D6-47C1-A373-4FD133E34F3C}" type="datetimeFigureOut">
              <a:rPr lang="en-US" dirty="0"/>
              <a:t>1/14/26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729455" y="2869895"/>
            <a:ext cx="1154151" cy="1090789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0320" y="2336873"/>
            <a:ext cx="4698358" cy="359931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594123" y="2336873"/>
            <a:ext cx="4700058" cy="359931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A6C69-6797-4E8A-BF37-F2C3751466E9}" type="datetimeFigureOut">
              <a:rPr lang="en-US" dirty="0"/>
              <a:t>1/14/26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1" name="Picture 10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" name="Rectangle 12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19" y="753229"/>
            <a:ext cx="9613863" cy="108093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06350" y="2336873"/>
            <a:ext cx="4472327" cy="69313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0322" y="3030008"/>
            <a:ext cx="4698355" cy="290617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820154" y="2336873"/>
            <a:ext cx="4474028" cy="69207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594123" y="3030008"/>
            <a:ext cx="4700059" cy="290617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2014A1-A632-4878-A0D3-F52BA7563730}" type="datetimeFigureOut">
              <a:rPr lang="en-US" dirty="0"/>
              <a:t>1/14/26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7" name="Picture 6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99F462-093F-4566-844B-4C71F2739DA5}" type="datetimeFigureOut">
              <a:rPr lang="en-US" dirty="0"/>
              <a:t>1/14/26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HD-ShadowShor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24A7AC-904D-4781-85BA-7D10C17ED021}" type="datetimeFigureOut">
              <a:rPr lang="en-US" dirty="0"/>
              <a:t>1/14/26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1" y="753227"/>
            <a:ext cx="9613859" cy="108094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85846" y="2336873"/>
            <a:ext cx="5608336" cy="35993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2336872"/>
            <a:ext cx="3790078" cy="3599317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31444B-B92B-4E27-8C94-BB93EAF5CB18}" type="datetimeFigureOut">
              <a:rPr lang="en-US" dirty="0"/>
              <a:t>1/14/26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3" y="753228"/>
            <a:ext cx="9613857" cy="1080938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868333" y="2336874"/>
            <a:ext cx="5425849" cy="3599312"/>
          </a:xfr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3" y="2336873"/>
            <a:ext cx="3876256" cy="3599315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3EFA5E-FA76-400D-B3DC-F0BA90E6D107}" type="datetimeFigureOut">
              <a:rPr lang="en-US" dirty="0"/>
              <a:t>1/14/26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2" y="4711616"/>
            <a:ext cx="9613859" cy="453051"/>
          </a:xfrm>
        </p:spPr>
        <p:txBody>
          <a:bodyPr anchor="b"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0322" y="609597"/>
            <a:ext cx="9613859" cy="3589575"/>
          </a:xfr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19" y="5169583"/>
            <a:ext cx="9613862" cy="622971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6C117F-5CCF-4837-BE5F-2B92066CAFAF}" type="datetimeFigureOut">
              <a:rPr lang="en-US" dirty="0"/>
              <a:t>1/14/26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5" y="4711309"/>
            <a:ext cx="1154151" cy="1090789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2" y="609597"/>
            <a:ext cx="9613858" cy="3592750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4711615"/>
            <a:ext cx="9613859" cy="1090789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EB90BD-B6CE-46B7-997F-7313B992CCDC}" type="datetimeFigureOut">
              <a:rPr lang="en-US" dirty="0"/>
              <a:t>1/14/26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5" y="4711615"/>
            <a:ext cx="1154151" cy="1090789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13" name="Picture 12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Rectangle 14"/>
          <p:cNvSpPr/>
          <p:nvPr/>
        </p:nvSpPr>
        <p:spPr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27856" y="609598"/>
            <a:ext cx="8718877" cy="3036061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402288" y="3653379"/>
            <a:ext cx="815657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4711615"/>
            <a:ext cx="9613859" cy="1090789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B9D11F-B188-461D-B23F-39381795C052}" type="datetimeFigureOut">
              <a:rPr lang="en-US" dirty="0"/>
              <a:t>1/14/26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5" y="4709925"/>
            <a:ext cx="1154151" cy="1090789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sp>
        <p:nvSpPr>
          <p:cNvPr id="16" name="TextBox 15"/>
          <p:cNvSpPr txBox="1"/>
          <p:nvPr/>
        </p:nvSpPr>
        <p:spPr>
          <a:xfrm>
            <a:off x="583572" y="74811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72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62809" y="30335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72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10" name="Picture 9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2" name="Rectangle 11"/>
          <p:cNvSpPr/>
          <p:nvPr/>
        </p:nvSpPr>
        <p:spPr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19" y="4711615"/>
            <a:ext cx="9613862" cy="5885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0" y="5300149"/>
            <a:ext cx="9613862" cy="502255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E6D8D9-55A2-4063-B0F3-121F44549695}" type="datetimeFigureOut">
              <a:rPr lang="en-US" dirty="0"/>
              <a:t>1/14/26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5" y="4709925"/>
            <a:ext cx="1154151" cy="1090789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4" name="Picture 13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7" name="Rectangle 16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669222" y="753228"/>
            <a:ext cx="9624960" cy="108093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60946" y="2336873"/>
            <a:ext cx="3070034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0322" y="3022673"/>
            <a:ext cx="3049702" cy="291351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56025" y="2336873"/>
            <a:ext cx="306324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3945470" y="3022673"/>
            <a:ext cx="3063240" cy="291351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224156" y="2336873"/>
            <a:ext cx="30700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224156" y="3022673"/>
            <a:ext cx="3070025" cy="291351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B24536-994D-4021-A283-9F449C0DB509}" type="datetimeFigureOut">
              <a:rPr lang="en-US" dirty="0"/>
              <a:t>1/14/26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6" name="Picture 15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" name="Rectangle 17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680322" y="753228"/>
            <a:ext cx="9613860" cy="108093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0318" y="4297503"/>
            <a:ext cx="304970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80318" y="2336873"/>
            <a:ext cx="3049705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0318" y="4873765"/>
            <a:ext cx="3049705" cy="106242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45471" y="4297503"/>
            <a:ext cx="306324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945470" y="2336873"/>
            <a:ext cx="3063240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3944117" y="4873764"/>
            <a:ext cx="3067297" cy="106242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230678" y="4297503"/>
            <a:ext cx="306350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230677" y="2336873"/>
            <a:ext cx="3063505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230553" y="4873762"/>
            <a:ext cx="3067563" cy="106242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BBBB78-C96F-47B7-AB17-D852CA960AC9}" type="datetimeFigureOut">
              <a:rPr lang="en-US" dirty="0"/>
              <a:t>1/14/26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A3F48C-C7C6-4055-9F49-3777875E72AE}" type="datetimeFigureOut">
              <a:rPr lang="en-US" dirty="0"/>
              <a:t>1/14/26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 bwMode="ltGray">
          <a:xfrm rot="5400000">
            <a:off x="8116207" y="1869395"/>
            <a:ext cx="5106988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 rot="5400000">
            <a:off x="9868202" y="5372403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129231" y="609597"/>
            <a:ext cx="1073802" cy="435376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0322" y="609597"/>
            <a:ext cx="8870004" cy="532658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807126" y="5936187"/>
            <a:ext cx="2743200" cy="365125"/>
          </a:xfrm>
        </p:spPr>
        <p:txBody>
          <a:bodyPr/>
          <a:lstStyle/>
          <a:p>
            <a:fld id="{6178E61D-D431-422C-9764-11DAFE33AB63}" type="datetimeFigureOut">
              <a:rPr lang="en-US" dirty="0"/>
              <a:t>1/14/26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0321" y="5936188"/>
            <a:ext cx="6126805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097550" y="5398633"/>
            <a:ext cx="1154151" cy="1090789"/>
          </a:xfrm>
        </p:spPr>
        <p:txBody>
          <a:bodyPr anchor="t"/>
          <a:lstStyle>
            <a:lvl1pPr algn="ctr">
              <a:defRPr/>
            </a:lvl1pPr>
          </a:lstStyle>
          <a:p>
            <a:fld id="{6D22F896-40B5-4ADD-8801-0D06FADFA09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ashOverlay-FullResolve.png"/>
          <p:cNvPicPr>
            <a:picLocks noChangeAspect="1"/>
          </p:cNvPicPr>
          <p:nvPr/>
        </p:nvPicPr>
        <p:blipFill>
          <a:blip r:embed="rId19">
            <a:alphaModFix amt="1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0321" y="753228"/>
            <a:ext cx="9613861" cy="108093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0321" y="2336873"/>
            <a:ext cx="9613861" cy="359931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0981" y="5936187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D6E9DEC-419B-4CC5-A080-3B06BD5A8291}" type="datetimeFigureOut">
              <a:rPr lang="en-US" dirty="0"/>
              <a:t>1/14/26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0321" y="5936188"/>
            <a:ext cx="687066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29455" y="753227"/>
            <a:ext cx="1154151" cy="109078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22F896-40B5-4ADD-8801-0D06FADFA09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60" r:id="rId10"/>
    <p:sldLayoutId id="2147483661" r:id="rId11"/>
    <p:sldLayoutId id="2147483666" r:id="rId12"/>
    <p:sldLayoutId id="2147483663" r:id="rId13"/>
    <p:sldLayoutId id="2147483667" r:id="rId14"/>
    <p:sldLayoutId id="2147483668" r:id="rId15"/>
    <p:sldLayoutId id="2147483658" r:id="rId16"/>
    <p:sldLayoutId id="2147483659" r:id="rId17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PrincetonUniversity/software_testing.git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PrincetonUniversity/software_testing.git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mailto:git@github.com:PrincetonUniversity/software_testing.git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hyperlink" Target="https://appmaster.io/blog/why-use-a-modular-architecture-in-software-design" TargetMode="Externa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CC4179-0E0D-13CA-EB9E-6EA63D07A32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" y="2733709"/>
            <a:ext cx="8672056" cy="1373070"/>
          </a:xfrm>
        </p:spPr>
        <p:txBody>
          <a:bodyPr/>
          <a:lstStyle/>
          <a:p>
            <a:r>
              <a:rPr lang="en-US" sz="4400" dirty="0"/>
              <a:t>Gotcha! How to Write Software Tests to Improve Code Quality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FBF011C-3BA0-175B-05AE-7A127763ED4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" y="4295669"/>
            <a:ext cx="11896165" cy="1117687"/>
          </a:xfrm>
        </p:spPr>
        <p:txBody>
          <a:bodyPr/>
          <a:lstStyle/>
          <a:p>
            <a:pPr algn="ctr"/>
            <a:r>
              <a:rPr lang="en-US" dirty="0"/>
              <a:t>Princeton University </a:t>
            </a:r>
            <a:r>
              <a:rPr lang="en-US" dirty="0" err="1"/>
              <a:t>WinterSession</a:t>
            </a:r>
            <a:r>
              <a:rPr lang="en-US" dirty="0"/>
              <a:t> 2026</a:t>
            </a:r>
          </a:p>
          <a:p>
            <a:pPr algn="ctr">
              <a:spcBef>
                <a:spcPts val="0"/>
              </a:spcBef>
            </a:pPr>
            <a:r>
              <a:rPr lang="en-US" dirty="0"/>
              <a:t>Instructor: Bill Hasling (Princeton RSE Staff)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467745C-1E08-7DC5-90B8-E80AC1B79759}"/>
              </a:ext>
            </a:extLst>
          </p:cNvPr>
          <p:cNvSpPr txBox="1"/>
          <p:nvPr/>
        </p:nvSpPr>
        <p:spPr>
          <a:xfrm>
            <a:off x="338484" y="5129259"/>
            <a:ext cx="12192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>
              <a:buNone/>
            </a:pPr>
            <a:r>
              <a:rPr lang="en-US" sz="2400" dirty="0"/>
              <a:t>git clone </a:t>
            </a:r>
            <a:r>
              <a:rPr lang="en-US" sz="2400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https://github.com/PrincetonUniversity/software_testing.git</a:t>
            </a:r>
            <a:endParaRPr lang="en-US" sz="24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DB8A571-908F-93A8-6CB4-05ADA7E2DBF1}"/>
              </a:ext>
            </a:extLst>
          </p:cNvPr>
          <p:cNvSpPr txBox="1"/>
          <p:nvPr/>
        </p:nvSpPr>
        <p:spPr>
          <a:xfrm>
            <a:off x="7513825" y="252384"/>
            <a:ext cx="25680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>
                <a:effectLst/>
                <a:latin typeface="Tahoma" panose="020B0604030504040204" pitchFamily="34" charset="0"/>
              </a:rPr>
              <a:t> </a:t>
            </a:r>
            <a:endParaRPr lang="en-US" dirty="0">
              <a:effectLst/>
            </a:endParaRPr>
          </a:p>
          <a:p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D49A718-C1C0-1E97-6078-687074A81DFA}"/>
              </a:ext>
            </a:extLst>
          </p:cNvPr>
          <p:cNvSpPr txBox="1"/>
          <p:nvPr/>
        </p:nvSpPr>
        <p:spPr>
          <a:xfrm>
            <a:off x="338484" y="5865670"/>
            <a:ext cx="10873489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indent="0">
              <a:buNone/>
            </a:pPr>
            <a:r>
              <a:rPr lang="en-US" sz="2400" dirty="0"/>
              <a:t>On Adroit execute: (to load python virtual environment)</a:t>
            </a:r>
          </a:p>
          <a:p>
            <a:pPr marL="0" indent="0">
              <a:buNone/>
            </a:pPr>
            <a:r>
              <a:rPr lang="en-US" sz="2400" dirty="0"/>
              <a:t>	</a:t>
            </a:r>
            <a:r>
              <a:rPr lang="en-US" sz="2400" b="0" dirty="0">
                <a:effectLst/>
                <a:latin typeface="Menlo" panose="020B0609030804020204" pitchFamily="49" charset="0"/>
              </a:rPr>
              <a:t>source /scratch/network/wh3248/</a:t>
            </a:r>
            <a:r>
              <a:rPr lang="en-US" sz="2400" b="0" dirty="0" err="1">
                <a:effectLst/>
                <a:latin typeface="Menlo" panose="020B0609030804020204" pitchFamily="49" charset="0"/>
              </a:rPr>
              <a:t>shared_venv</a:t>
            </a:r>
            <a:r>
              <a:rPr lang="en-US" sz="2400" b="0" dirty="0">
                <a:effectLst/>
                <a:latin typeface="Menlo" panose="020B0609030804020204" pitchFamily="49" charset="0"/>
              </a:rPr>
              <a:t>/bin/activate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18145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02D287-EA3E-BB81-91C5-7A627B55F9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Clone GIT Repository For Slides and Examples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81859C-49C0-2DD5-94A0-05955D10B7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5527" y="2092036"/>
            <a:ext cx="11734800" cy="47659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Clone Public Repo</a:t>
            </a:r>
          </a:p>
          <a:p>
            <a:pPr marL="0" indent="0">
              <a:buNone/>
            </a:pPr>
            <a:r>
              <a:rPr lang="en-US" dirty="0"/>
              <a:t>  git clone </a:t>
            </a:r>
            <a:r>
              <a:rPr lang="en-US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https://github.com/PrincetonUniversity/software_testing.git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sz="2800" dirty="0"/>
              <a:t>Slides in Repo Root Folder:  </a:t>
            </a:r>
            <a:r>
              <a:rPr lang="en-US" sz="2800" dirty="0" err="1"/>
              <a:t>UnitTestingSlides.pptx</a:t>
            </a:r>
            <a:endParaRPr lang="en-US" sz="2800" dirty="0"/>
          </a:p>
          <a:p>
            <a:pPr marL="0" indent="0">
              <a:buNone/>
            </a:pPr>
            <a:br>
              <a:rPr lang="en-US" dirty="0"/>
            </a:br>
            <a:r>
              <a:rPr lang="en-US" dirty="0"/>
              <a:t>On Adroit execute:</a:t>
            </a:r>
          </a:p>
          <a:p>
            <a:pPr marL="0" indent="0">
              <a:buNone/>
            </a:pPr>
            <a:r>
              <a:rPr lang="en-US" dirty="0"/>
              <a:t>	</a:t>
            </a:r>
            <a:r>
              <a:rPr lang="en-US" b="0" dirty="0">
                <a:effectLst/>
                <a:latin typeface="Menlo" panose="020B0609030804020204" pitchFamily="49" charset="0"/>
              </a:rPr>
              <a:t>source /scratch/network/wh3248/</a:t>
            </a:r>
            <a:r>
              <a:rPr lang="en-US" b="0" dirty="0" err="1">
                <a:effectLst/>
                <a:latin typeface="Menlo" panose="020B0609030804020204" pitchFamily="49" charset="0"/>
              </a:rPr>
              <a:t>shared_venv</a:t>
            </a:r>
            <a:r>
              <a:rPr lang="en-US" b="0" dirty="0">
                <a:effectLst/>
                <a:latin typeface="Menlo" panose="020B0609030804020204" pitchFamily="49" charset="0"/>
              </a:rPr>
              <a:t>/bin/activate</a:t>
            </a:r>
          </a:p>
          <a:p>
            <a:pPr marL="0" indent="0">
              <a:buNone/>
            </a:pPr>
            <a:r>
              <a:rPr lang="en-US" b="0" dirty="0">
                <a:effectLst/>
                <a:latin typeface="Menlo" panose="020B0609030804020204" pitchFamily="49" charset="0"/>
              </a:rPr>
              <a:t>On laptop:</a:t>
            </a:r>
          </a:p>
          <a:p>
            <a:pPr marL="0" indent="0">
              <a:buNone/>
            </a:pPr>
            <a:r>
              <a:rPr lang="en-US" dirty="0">
                <a:latin typeface="Menlo" panose="020B0609030804020204" pitchFamily="49" charset="0"/>
              </a:rPr>
              <a:t>	pip install </a:t>
            </a:r>
            <a:r>
              <a:rPr lang="en-US" dirty="0" err="1">
                <a:latin typeface="Menlo" panose="020B0609030804020204" pitchFamily="49" charset="0"/>
              </a:rPr>
              <a:t>pytest</a:t>
            </a:r>
            <a:r>
              <a:rPr lang="en-US" dirty="0">
                <a:latin typeface="Menlo" panose="020B0609030804020204" pitchFamily="49" charset="0"/>
              </a:rPr>
              <a:t> </a:t>
            </a:r>
            <a:r>
              <a:rPr lang="en-US" dirty="0" err="1">
                <a:latin typeface="Menlo" panose="020B0609030804020204" pitchFamily="49" charset="0"/>
              </a:rPr>
              <a:t>pytest</a:t>
            </a:r>
            <a:r>
              <a:rPr lang="en-US" dirty="0">
                <a:latin typeface="Menlo" panose="020B0609030804020204" pitchFamily="49" charset="0"/>
              </a:rPr>
              <a:t>-mock flask requests</a:t>
            </a:r>
            <a:endParaRPr lang="en-US" b="0" dirty="0">
              <a:effectLst/>
              <a:latin typeface="Menlo" panose="020B0609030804020204" pitchFamily="49" charset="0"/>
            </a:endParaRPr>
          </a:p>
          <a:p>
            <a:pPr marL="0" indent="0">
              <a:buNone/>
            </a:pPr>
            <a:endParaRPr lang="en-US" b="0" dirty="0">
              <a:effectLst/>
              <a:latin typeface="Menlo" panose="020B0609030804020204" pitchFamily="49" charset="0"/>
            </a:endParaRP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755616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9A25BD-ADC2-9F60-7AF0-89AA4B2A55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Unit Testing Syllabus</a:t>
            </a:r>
            <a:br>
              <a:rPr lang="en-US" dirty="0"/>
            </a:br>
            <a:r>
              <a:rPr lang="en-US" dirty="0"/>
              <a:t>(with Examples)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F89769-6211-B2A6-9FA1-993D82B919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0321" y="2336872"/>
            <a:ext cx="9613861" cy="4386657"/>
          </a:xfrm>
        </p:spPr>
        <p:txBody>
          <a:bodyPr>
            <a:normAutofit/>
          </a:bodyPr>
          <a:lstStyle/>
          <a:p>
            <a:r>
              <a:rPr lang="en-US" dirty="0"/>
              <a:t>Overview</a:t>
            </a:r>
          </a:p>
          <a:p>
            <a:r>
              <a:rPr lang="en-US" dirty="0"/>
              <a:t>Unit Testing in Various Python Frameworks</a:t>
            </a:r>
          </a:p>
          <a:p>
            <a:pPr lvl="1"/>
            <a:r>
              <a:rPr lang="en-US" dirty="0" err="1"/>
              <a:t>Pytest</a:t>
            </a:r>
            <a:endParaRPr lang="en-US" dirty="0"/>
          </a:p>
          <a:p>
            <a:pPr lvl="1"/>
            <a:r>
              <a:rPr lang="en-US" dirty="0" err="1"/>
              <a:t>UnitTest</a:t>
            </a:r>
            <a:endParaRPr lang="en-US" dirty="0"/>
          </a:p>
          <a:p>
            <a:pPr lvl="1"/>
            <a:r>
              <a:rPr lang="en-US" dirty="0" err="1"/>
              <a:t>DocTest</a:t>
            </a:r>
            <a:endParaRPr lang="en-US" dirty="0"/>
          </a:p>
          <a:p>
            <a:pPr lvl="1"/>
            <a:r>
              <a:rPr lang="en-US" dirty="0"/>
              <a:t>Other computer languages</a:t>
            </a:r>
          </a:p>
          <a:p>
            <a:r>
              <a:rPr lang="en-US" dirty="0"/>
              <a:t>Mocking</a:t>
            </a:r>
          </a:p>
          <a:p>
            <a:r>
              <a:rPr lang="en-US" dirty="0"/>
              <a:t>Types of Testing</a:t>
            </a:r>
          </a:p>
          <a:p>
            <a:r>
              <a:rPr lang="en-US" dirty="0" err="1"/>
              <a:t>Jupyter</a:t>
            </a:r>
            <a:r>
              <a:rPr lang="en-US" dirty="0"/>
              <a:t> Notebooks</a:t>
            </a:r>
          </a:p>
          <a:p>
            <a:r>
              <a:rPr lang="en-US" dirty="0"/>
              <a:t>TDD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295255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063437-88CB-AD02-6894-6F2F93DD62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Software Engineering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D13937-0BEA-91AF-4D54-AD048D3F2A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Difference between Software Engineering and Plain Development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Process:</a:t>
            </a:r>
          </a:p>
          <a:p>
            <a:pPr lvl="1"/>
            <a:r>
              <a:rPr lang="en-US" dirty="0"/>
              <a:t>Version Control (e.g. GIT)</a:t>
            </a:r>
          </a:p>
          <a:p>
            <a:pPr lvl="1"/>
            <a:r>
              <a:rPr lang="en-US" dirty="0"/>
              <a:t>Naming and Coding Conventions (static analysis)</a:t>
            </a:r>
          </a:p>
          <a:p>
            <a:pPr lvl="1"/>
            <a:r>
              <a:rPr lang="en-US" dirty="0"/>
              <a:t>Task and Defect Tracking</a:t>
            </a:r>
          </a:p>
          <a:p>
            <a:pPr lvl="1"/>
            <a:r>
              <a:rPr lang="en-US" dirty="0"/>
              <a:t>Automation (e.g. continuous integration)</a:t>
            </a:r>
          </a:p>
          <a:p>
            <a:pPr lvl="1"/>
            <a:r>
              <a:rPr lang="en-US" dirty="0"/>
              <a:t>Specifications and Requirements</a:t>
            </a:r>
          </a:p>
          <a:p>
            <a:pPr lvl="1"/>
            <a:r>
              <a:rPr lang="en-US" dirty="0"/>
              <a:t>Software Design (modularity, repeatability, non-functional properties)</a:t>
            </a:r>
          </a:p>
          <a:p>
            <a:pPr lvl="1"/>
            <a:r>
              <a:rPr lang="en-US" dirty="0"/>
              <a:t>Testing (especially unit testing)</a:t>
            </a:r>
          </a:p>
        </p:txBody>
      </p:sp>
    </p:spTree>
    <p:extLst>
      <p:ext uri="{BB962C8B-B14F-4D97-AF65-F5344CB8AC3E}">
        <p14:creationId xmlns:p14="http://schemas.microsoft.com/office/powerpoint/2010/main" val="23103888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78A177-62EE-54A9-7F91-62727B9769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Unit testing?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9EFEDD-45FE-EEC9-0DB0-F5D409DD4C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0321" y="2336873"/>
            <a:ext cx="10749679" cy="3599316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Verification that code works correctly</a:t>
            </a:r>
          </a:p>
          <a:p>
            <a:pPr lvl="1"/>
            <a:r>
              <a:rPr lang="en-US" dirty="0"/>
              <a:t>This shows what works (provides confidence in code).</a:t>
            </a:r>
          </a:p>
          <a:p>
            <a:pPr lvl="1"/>
            <a:r>
              <a:rPr lang="en-US" dirty="0"/>
              <a:t>This does not mean there are no bugs in the code (that it impossible).</a:t>
            </a:r>
          </a:p>
          <a:p>
            <a:pPr lvl="1"/>
            <a:r>
              <a:rPr lang="en-US" dirty="0"/>
              <a:t>But it does provide evidence of what works.</a:t>
            </a:r>
          </a:p>
          <a:p>
            <a:pPr lvl="1"/>
            <a:endParaRPr lang="en-US" dirty="0"/>
          </a:p>
          <a:p>
            <a:pPr marL="0" indent="0">
              <a:buNone/>
            </a:pPr>
            <a:r>
              <a:rPr lang="en-US" dirty="0"/>
              <a:t>Benefits</a:t>
            </a:r>
          </a:p>
          <a:p>
            <a:r>
              <a:rPr lang="en-US" dirty="0"/>
              <a:t>Unit tests make debugging easier.</a:t>
            </a:r>
          </a:p>
          <a:p>
            <a:r>
              <a:rPr lang="en-US" dirty="0"/>
              <a:t>Unit tests make refactoring possible.</a:t>
            </a:r>
          </a:p>
          <a:p>
            <a:r>
              <a:rPr lang="en-US" dirty="0"/>
              <a:t>Unit tests increase the quality of your code.</a:t>
            </a:r>
          </a:p>
          <a:p>
            <a:r>
              <a:rPr lang="en-US" dirty="0"/>
              <a:t>Unit tests can help you evaluate your code structure and design choices.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483409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01676D-4DB6-5781-290B-ED75023914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Unit Testing Camps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D83272-6B9D-8889-A4D0-3892AC6B39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0321" y="2336873"/>
            <a:ext cx="10923100" cy="4326686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sz="2900" dirty="0"/>
              <a:t>Opinions on the value of unit testing fall into 3 camps.</a:t>
            </a:r>
            <a:br>
              <a:rPr lang="en-US" sz="2900" dirty="0"/>
            </a:br>
            <a:endParaRPr lang="en-US" sz="2900" dirty="0"/>
          </a:p>
          <a:p>
            <a:pPr lvl="1"/>
            <a:r>
              <a:rPr lang="en-US" sz="2900" dirty="0"/>
              <a:t>The Skeptic</a:t>
            </a:r>
            <a:br>
              <a:rPr lang="en-US" sz="2900" dirty="0"/>
            </a:br>
            <a:r>
              <a:rPr lang="en-US" sz="2600" dirty="0"/>
              <a:t>This seems like a lot of work. I test my code anyway. I’m fine.</a:t>
            </a:r>
            <a:br>
              <a:rPr lang="en-US" sz="2900" dirty="0"/>
            </a:br>
            <a:endParaRPr lang="en-US" sz="2900" dirty="0"/>
          </a:p>
          <a:p>
            <a:pPr lvl="1"/>
            <a:r>
              <a:rPr lang="en-US" sz="2900" dirty="0"/>
              <a:t>The Convert</a:t>
            </a:r>
            <a:br>
              <a:rPr lang="en-US" sz="2900" dirty="0"/>
            </a:br>
            <a:r>
              <a:rPr lang="en-US" sz="2900" dirty="0"/>
              <a:t>This is great. I’m creating tests for every possible scenario.</a:t>
            </a:r>
            <a:br>
              <a:rPr lang="en-US" sz="2900" dirty="0"/>
            </a:br>
            <a:endParaRPr lang="en-US" sz="2900" dirty="0"/>
          </a:p>
          <a:p>
            <a:pPr lvl="1"/>
            <a:r>
              <a:rPr lang="en-US" sz="2900" dirty="0"/>
              <a:t>The Pragmatic</a:t>
            </a:r>
            <a:br>
              <a:rPr lang="en-US" sz="2900" dirty="0"/>
            </a:br>
            <a:r>
              <a:rPr lang="en-US" sz="2900" dirty="0"/>
              <a:t>Unit tests are important. I’m going to start small and grow.</a:t>
            </a:r>
          </a:p>
          <a:p>
            <a:pPr marL="457200" lvl="1" indent="0">
              <a:buNone/>
            </a:pPr>
            <a:br>
              <a:rPr lang="en-US" sz="2400" dirty="0"/>
            </a:br>
            <a:endParaRPr lang="en-US" sz="2400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51350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212DDA-C88E-49A6-3226-2C4A8D16B9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a Unit?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94A648-A74E-C083-B3C6-B7AEE780B5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0321" y="2336873"/>
            <a:ext cx="10906433" cy="398555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A unit is a function, module or class that can be invoked and tested independently.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Test Structure - All tests do the following (some steps optional)</a:t>
            </a:r>
          </a:p>
          <a:p>
            <a:pPr lvl="1"/>
            <a:r>
              <a:rPr lang="en-US" dirty="0"/>
              <a:t>Setup the environment for the test</a:t>
            </a:r>
          </a:p>
          <a:p>
            <a:pPr lvl="1"/>
            <a:r>
              <a:rPr lang="en-US" dirty="0"/>
              <a:t>Invoke the item to be tested with test arguments</a:t>
            </a:r>
          </a:p>
          <a:p>
            <a:pPr lvl="1"/>
            <a:r>
              <a:rPr lang="en-US" dirty="0"/>
              <a:t>Verify expected results</a:t>
            </a:r>
          </a:p>
          <a:p>
            <a:pPr lvl="1"/>
            <a:r>
              <a:rPr lang="en-US" dirty="0"/>
              <a:t>Clean up the environment of the test.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A unit must be unit testable.</a:t>
            </a:r>
          </a:p>
        </p:txBody>
      </p:sp>
    </p:spTree>
    <p:extLst>
      <p:ext uri="{BB962C8B-B14F-4D97-AF65-F5344CB8AC3E}">
        <p14:creationId xmlns:p14="http://schemas.microsoft.com/office/powerpoint/2010/main" val="36720899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66DF1D-D062-2654-8715-B4E37AE358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036B7F-85EE-A154-22A1-5D13101FE2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What are examples of a testing unit?</a:t>
            </a:r>
          </a:p>
          <a:p>
            <a:r>
              <a:rPr lang="en-US" dirty="0"/>
              <a:t>Do complete unit tests mean there are no bugs in the code?</a:t>
            </a:r>
          </a:p>
          <a:p>
            <a:r>
              <a:rPr lang="en-US" dirty="0"/>
              <a:t>Does writing test cases slow down development?</a:t>
            </a:r>
          </a:p>
          <a:p>
            <a:r>
              <a:rPr lang="en-US" dirty="0"/>
              <a:t>Should there be test code for test code?</a:t>
            </a:r>
          </a:p>
          <a:p>
            <a:r>
              <a:rPr lang="en-US" dirty="0"/>
              <a:t>What does it mean when a test fails?</a:t>
            </a:r>
          </a:p>
          <a:p>
            <a:r>
              <a:rPr lang="en-US" dirty="0"/>
              <a:t>Can tests improve your code design?</a:t>
            </a:r>
          </a:p>
          <a:p>
            <a:r>
              <a:rPr lang="en-US" dirty="0"/>
              <a:t>What can it mean to “setup the environment for a test”?</a:t>
            </a:r>
          </a:p>
          <a:p>
            <a:r>
              <a:rPr lang="en-US" dirty="0"/>
              <a:t>What can it mean when it is difficult to write tests?</a:t>
            </a:r>
          </a:p>
        </p:txBody>
      </p:sp>
    </p:spTree>
    <p:extLst>
      <p:ext uri="{BB962C8B-B14F-4D97-AF65-F5344CB8AC3E}">
        <p14:creationId xmlns:p14="http://schemas.microsoft.com/office/powerpoint/2010/main" val="36822866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65F9B3-62D5-D56C-54C8-0A67518FEC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 Frameworks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8CD90F-E5F8-4587-E9EA-4F8EEA2CA7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0321" y="2336873"/>
            <a:ext cx="10109599" cy="359931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Now let’s play with some examples !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git clone </a:t>
            </a:r>
            <a:r>
              <a:rPr lang="en-US" dirty="0">
                <a:hlinkClick r:id="rId3"/>
              </a:rPr>
              <a:t>git@github.com:PrincetonUniversity/software_testing.git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	02_pytest</a:t>
            </a:r>
          </a:p>
          <a:p>
            <a:pPr marL="0" indent="0">
              <a:buNone/>
            </a:pPr>
            <a:r>
              <a:rPr lang="en-US" dirty="0"/>
              <a:t>	03_unittest</a:t>
            </a:r>
          </a:p>
          <a:p>
            <a:pPr marL="0" indent="0">
              <a:buNone/>
            </a:pPr>
            <a:r>
              <a:rPr lang="en-US" dirty="0"/>
              <a:t>	04_doctest</a:t>
            </a:r>
          </a:p>
          <a:p>
            <a:pPr marL="0" indent="0">
              <a:buNone/>
            </a:pPr>
            <a:r>
              <a:rPr lang="en-US" dirty="0"/>
              <a:t>	05_c++</a:t>
            </a:r>
          </a:p>
        </p:txBody>
      </p:sp>
    </p:spTree>
    <p:extLst>
      <p:ext uri="{BB962C8B-B14F-4D97-AF65-F5344CB8AC3E}">
        <p14:creationId xmlns:p14="http://schemas.microsoft.com/office/powerpoint/2010/main" val="26816298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1BC8CA-23DC-00F6-9485-97991DED6A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02 </a:t>
            </a:r>
            <a:r>
              <a:rPr lang="en-US" dirty="0" err="1"/>
              <a:t>PyTest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33F77E-93E8-297B-19D0-2CEFDBCB06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0321" y="2184472"/>
            <a:ext cx="10402718" cy="467352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Requires “pip install </a:t>
            </a:r>
            <a:r>
              <a:rPr lang="en-US" dirty="0" err="1"/>
              <a:t>pytest</a:t>
            </a:r>
            <a:r>
              <a:rPr lang="en-US" dirty="0"/>
              <a:t>”</a:t>
            </a:r>
          </a:p>
          <a:p>
            <a:pPr marL="0" indent="0">
              <a:buNone/>
            </a:pPr>
            <a:r>
              <a:rPr lang="en-US" dirty="0"/>
              <a:t>(See example 02_pytest/examples/</a:t>
            </a:r>
            <a:r>
              <a:rPr lang="en-US" dirty="0" err="1"/>
              <a:t>test_geometric_area.py</a:t>
            </a:r>
            <a:r>
              <a:rPr lang="en-US" dirty="0"/>
              <a:t>)</a:t>
            </a:r>
          </a:p>
          <a:p>
            <a:pPr marL="0" indent="0">
              <a:buNone/>
            </a:pPr>
            <a:br>
              <a:rPr lang="en-US" dirty="0"/>
            </a:b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Execute with </a:t>
            </a:r>
            <a:r>
              <a:rPr lang="en-US" dirty="0" err="1"/>
              <a:t>pytest</a:t>
            </a:r>
            <a:r>
              <a:rPr lang="en-US" dirty="0"/>
              <a:t> command (in directory 02_pytest/examples):</a:t>
            </a:r>
          </a:p>
          <a:p>
            <a:pPr marL="457200" lvl="1" indent="0">
              <a:buNone/>
            </a:pPr>
            <a:r>
              <a:rPr lang="en-US" dirty="0"/>
              <a:t>  </a:t>
            </a:r>
            <a:r>
              <a:rPr lang="en-US" sz="2400" dirty="0" err="1"/>
              <a:t>pytest</a:t>
            </a:r>
            <a:r>
              <a:rPr lang="en-US" sz="2400" dirty="0"/>
              <a:t> </a:t>
            </a:r>
            <a:r>
              <a:rPr lang="en-US" sz="2400" dirty="0" err="1"/>
              <a:t>test_geometric_area.py</a:t>
            </a:r>
            <a:endParaRPr lang="en-US" sz="2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07ED173-C2F9-18B9-8090-CCB1DFE7FA10}"/>
              </a:ext>
            </a:extLst>
          </p:cNvPr>
          <p:cNvSpPr txBox="1"/>
          <p:nvPr/>
        </p:nvSpPr>
        <p:spPr>
          <a:xfrm>
            <a:off x="1469178" y="3323915"/>
            <a:ext cx="9613861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>
              <a:buNone/>
            </a:pPr>
            <a:r>
              <a:rPr lang="en-US" sz="2400" dirty="0">
                <a:latin typeface="Courier" pitchFamily="2" charset="0"/>
              </a:rPr>
              <a:t>import math</a:t>
            </a:r>
          </a:p>
          <a:p>
            <a:pPr marL="0" indent="0">
              <a:buNone/>
            </a:pPr>
            <a:r>
              <a:rPr lang="en-US" sz="2400" dirty="0">
                <a:latin typeface="Courier" pitchFamily="2" charset="0"/>
              </a:rPr>
              <a:t>import </a:t>
            </a:r>
            <a:r>
              <a:rPr lang="en-US" sz="2400" dirty="0" err="1">
                <a:latin typeface="Courier" pitchFamily="2" charset="0"/>
              </a:rPr>
              <a:t>geometric_area</a:t>
            </a:r>
            <a:endParaRPr lang="en-US" sz="2400" dirty="0">
              <a:latin typeface="Courier" pitchFamily="2" charset="0"/>
            </a:endParaRPr>
          </a:p>
          <a:p>
            <a:pPr marL="0" indent="0">
              <a:buNone/>
            </a:pPr>
            <a:endParaRPr lang="en-US" sz="2400" dirty="0">
              <a:latin typeface="Courier" pitchFamily="2" charset="0"/>
            </a:endParaRPr>
          </a:p>
          <a:p>
            <a:pPr marL="0" indent="0">
              <a:buNone/>
            </a:pPr>
            <a:r>
              <a:rPr lang="en-US" sz="2400" dirty="0">
                <a:latin typeface="Courier" pitchFamily="2" charset="0"/>
              </a:rPr>
              <a:t>def </a:t>
            </a:r>
            <a:r>
              <a:rPr lang="en-US" sz="2400" dirty="0" err="1">
                <a:latin typeface="Courier" pitchFamily="2" charset="0"/>
              </a:rPr>
              <a:t>test_area</a:t>
            </a:r>
            <a:r>
              <a:rPr lang="en-US" sz="2400" dirty="0">
                <a:latin typeface="Courier" pitchFamily="2" charset="0"/>
              </a:rPr>
              <a:t>():</a:t>
            </a:r>
          </a:p>
          <a:p>
            <a:pPr marL="0" indent="0">
              <a:buNone/>
            </a:pPr>
            <a:r>
              <a:rPr lang="en-US" sz="2400" dirty="0">
                <a:latin typeface="Courier" pitchFamily="2" charset="0"/>
              </a:rPr>
              <a:t>	assert </a:t>
            </a:r>
            <a:r>
              <a:rPr lang="en-US" sz="2400" dirty="0" err="1">
                <a:latin typeface="Courier" pitchFamily="2" charset="0"/>
              </a:rPr>
              <a:t>geometric_area.circle_area</a:t>
            </a:r>
            <a:r>
              <a:rPr lang="en-US" sz="2400" dirty="0">
                <a:latin typeface="Courier" pitchFamily="2" charset="0"/>
              </a:rPr>
              <a:t>(1) = </a:t>
            </a:r>
            <a:r>
              <a:rPr lang="en-US" sz="2400" dirty="0" err="1">
                <a:latin typeface="Courier" pitchFamily="2" charset="0"/>
              </a:rPr>
              <a:t>math.pi</a:t>
            </a:r>
            <a:endParaRPr lang="en-US" sz="2400" dirty="0">
              <a:latin typeface="Courier" pitchFamily="2" charset="0"/>
            </a:endParaRPr>
          </a:p>
          <a:p>
            <a:r>
              <a:rPr lang="en-US" sz="2400" dirty="0">
                <a:latin typeface="Courier" pitchFamily="2" charset="0"/>
              </a:rPr>
              <a:t>	assert </a:t>
            </a:r>
            <a:r>
              <a:rPr lang="en-US" sz="2400" dirty="0" err="1">
                <a:latin typeface="Courier" pitchFamily="2" charset="0"/>
              </a:rPr>
              <a:t>geometric_area.circle_area</a:t>
            </a:r>
            <a:r>
              <a:rPr lang="en-US" sz="2400" dirty="0">
                <a:latin typeface="Courier" pitchFamily="2" charset="0"/>
              </a:rPr>
              <a:t>(0) = 0</a:t>
            </a:r>
            <a:br>
              <a:rPr lang="en-US" sz="2400" dirty="0">
                <a:latin typeface="Courier" pitchFamily="2" charset="0"/>
              </a:rPr>
            </a:br>
            <a:endParaRPr lang="en-US" sz="2400" dirty="0">
              <a:latin typeface="Courier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61517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C12E75-9E37-F171-2F7F-61A5DD36C2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02 </a:t>
            </a:r>
            <a:r>
              <a:rPr lang="en-US" dirty="0" err="1"/>
              <a:t>PyTest</a:t>
            </a:r>
            <a:r>
              <a:rPr lang="en-US" dirty="0"/>
              <a:t> Exception Tests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E4D210-39E4-59B8-8003-BB378111C7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It is useful to test your error handling in unit tests.</a:t>
            </a:r>
          </a:p>
          <a:p>
            <a:pPr marL="0" indent="0">
              <a:buNone/>
            </a:pPr>
            <a:r>
              <a:rPr lang="en-US" dirty="0"/>
              <a:t>(See example 02_pytest/examples/</a:t>
            </a:r>
            <a:r>
              <a:rPr lang="en-US" dirty="0" err="1"/>
              <a:t>test_geometric_area.py</a:t>
            </a:r>
            <a:r>
              <a:rPr lang="en-US" dirty="0"/>
              <a:t>)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File: </a:t>
            </a:r>
            <a:r>
              <a:rPr lang="en-US" dirty="0" err="1"/>
              <a:t>test_geometric_area.py</a:t>
            </a:r>
            <a:r>
              <a:rPr lang="en-US" dirty="0"/>
              <a:t>: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EC847A2-3A36-C41A-9713-D6E176156909}"/>
              </a:ext>
            </a:extLst>
          </p:cNvPr>
          <p:cNvSpPr txBox="1"/>
          <p:nvPr/>
        </p:nvSpPr>
        <p:spPr>
          <a:xfrm>
            <a:off x="1391824" y="4306799"/>
            <a:ext cx="9613861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>
              <a:buNone/>
            </a:pPr>
            <a:r>
              <a:rPr lang="en-US" sz="2400" dirty="0">
                <a:latin typeface="Courier" pitchFamily="2" charset="0"/>
              </a:rPr>
              <a:t>import </a:t>
            </a:r>
            <a:r>
              <a:rPr lang="en-US" sz="2400" dirty="0" err="1">
                <a:latin typeface="Courier" pitchFamily="2" charset="0"/>
              </a:rPr>
              <a:t>pytest</a:t>
            </a:r>
            <a:endParaRPr lang="en-US" sz="2400" dirty="0">
              <a:latin typeface="Courier" pitchFamily="2" charset="0"/>
            </a:endParaRPr>
          </a:p>
          <a:p>
            <a:pPr marL="0" indent="0">
              <a:buNone/>
            </a:pPr>
            <a:r>
              <a:rPr lang="en-US" sz="2400" dirty="0">
                <a:latin typeface="Courier" pitchFamily="2" charset="0"/>
              </a:rPr>
              <a:t>import </a:t>
            </a:r>
            <a:r>
              <a:rPr lang="en-US" sz="2400" dirty="0" err="1">
                <a:latin typeface="Courier" pitchFamily="2" charset="0"/>
              </a:rPr>
              <a:t>geometric_area</a:t>
            </a:r>
            <a:endParaRPr lang="en-US" sz="2400" dirty="0">
              <a:latin typeface="Courier" pitchFamily="2" charset="0"/>
            </a:endParaRPr>
          </a:p>
          <a:p>
            <a:pPr marL="0" indent="0">
              <a:buNone/>
            </a:pPr>
            <a:endParaRPr lang="en-US" sz="2400" dirty="0">
              <a:latin typeface="Courier" pitchFamily="2" charset="0"/>
            </a:endParaRPr>
          </a:p>
          <a:p>
            <a:pPr marL="0" indent="0">
              <a:buNone/>
            </a:pPr>
            <a:r>
              <a:rPr lang="en-US" sz="2400" dirty="0">
                <a:latin typeface="Courier" pitchFamily="2" charset="0"/>
              </a:rPr>
              <a:t>def </a:t>
            </a:r>
            <a:r>
              <a:rPr lang="en-US" sz="2400" dirty="0" err="1">
                <a:latin typeface="Courier" pitchFamily="2" charset="0"/>
              </a:rPr>
              <a:t>test_error_values</a:t>
            </a:r>
            <a:r>
              <a:rPr lang="en-US" sz="2400" dirty="0">
                <a:latin typeface="Courier" pitchFamily="2" charset="0"/>
              </a:rPr>
              <a:t>():</a:t>
            </a:r>
          </a:p>
          <a:p>
            <a:pPr marL="0" indent="0">
              <a:buNone/>
            </a:pPr>
            <a:r>
              <a:rPr lang="en-US" sz="2400" dirty="0">
                <a:latin typeface="Courier" pitchFamily="2" charset="0"/>
              </a:rPr>
              <a:t>	with </a:t>
            </a:r>
            <a:r>
              <a:rPr lang="en-US" sz="2400" dirty="0" err="1">
                <a:latin typeface="Courier" pitchFamily="2" charset="0"/>
              </a:rPr>
              <a:t>pytest.raises</a:t>
            </a:r>
            <a:r>
              <a:rPr lang="en-US" sz="2400" dirty="0">
                <a:latin typeface="Courier" pitchFamily="2" charset="0"/>
              </a:rPr>
              <a:t>(</a:t>
            </a:r>
            <a:r>
              <a:rPr lang="en-US" sz="2400" dirty="0" err="1">
                <a:latin typeface="Courier" pitchFamily="2" charset="0"/>
              </a:rPr>
              <a:t>ValueError</a:t>
            </a:r>
            <a:r>
              <a:rPr lang="en-US" sz="2400" dirty="0">
                <a:latin typeface="Courier" pitchFamily="2" charset="0"/>
              </a:rPr>
              <a:t>):</a:t>
            </a:r>
          </a:p>
          <a:p>
            <a:pPr marL="0" indent="0">
              <a:buNone/>
            </a:pPr>
            <a:r>
              <a:rPr lang="en-US" sz="2400" dirty="0">
                <a:latin typeface="Courier" pitchFamily="2" charset="0"/>
              </a:rPr>
              <a:t>	  </a:t>
            </a:r>
            <a:r>
              <a:rPr lang="en-US" sz="2400" dirty="0" err="1">
                <a:latin typeface="Courier" pitchFamily="2" charset="0"/>
              </a:rPr>
              <a:t>geometric_area.circle_area</a:t>
            </a:r>
            <a:r>
              <a:rPr lang="en-US" sz="2400" dirty="0">
                <a:latin typeface="Courier" pitchFamily="2" charset="0"/>
              </a:rPr>
              <a:t>(-2)</a:t>
            </a:r>
            <a:br>
              <a:rPr lang="en-US" sz="2400" dirty="0">
                <a:latin typeface="Courier" pitchFamily="2" charset="0"/>
              </a:rPr>
            </a:br>
            <a:endParaRPr lang="en-US" sz="2400" dirty="0">
              <a:latin typeface="Courier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738009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1138F9-32CF-98D5-B3A0-D592C6510B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Jupyter</a:t>
            </a:r>
            <a:r>
              <a:rPr lang="en-US" dirty="0"/>
              <a:t> Notebooks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D54C1D-6092-56DC-5F3C-1FC851E87E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0321" y="2336873"/>
            <a:ext cx="10419801" cy="4318570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How can I apply unit testing with </a:t>
            </a:r>
            <a:r>
              <a:rPr lang="en-US" dirty="0" err="1"/>
              <a:t>Jupyter</a:t>
            </a:r>
            <a:r>
              <a:rPr lang="en-US" dirty="0"/>
              <a:t> notebooks?</a:t>
            </a:r>
          </a:p>
          <a:p>
            <a:pPr marL="0" indent="0">
              <a:buNone/>
            </a:pPr>
            <a:r>
              <a:rPr lang="en-US" dirty="0"/>
              <a:t>(See example 02_pytest/examples/</a:t>
            </a:r>
            <a:r>
              <a:rPr lang="en-US" dirty="0" err="1"/>
              <a:t>notebook.ipynb</a:t>
            </a:r>
            <a:r>
              <a:rPr lang="en-US" dirty="0"/>
              <a:t>)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My Recommendation:</a:t>
            </a:r>
          </a:p>
          <a:p>
            <a:pPr lvl="1"/>
            <a:r>
              <a:rPr lang="en-US" dirty="0"/>
              <a:t>Create modules in the same directory as .</a:t>
            </a:r>
            <a:r>
              <a:rPr lang="en-US" dirty="0" err="1"/>
              <a:t>ipynb</a:t>
            </a:r>
            <a:r>
              <a:rPr lang="en-US" dirty="0"/>
              <a:t> with helpful functions.</a:t>
            </a:r>
          </a:p>
          <a:p>
            <a:pPr lvl="1"/>
            <a:r>
              <a:rPr lang="en-US" dirty="0"/>
              <a:t>Write unit tests for the helpful functions</a:t>
            </a:r>
          </a:p>
          <a:p>
            <a:pPr lvl="1"/>
            <a:r>
              <a:rPr lang="en-US" dirty="0"/>
              <a:t>Use the helpful function in your notebook to:</a:t>
            </a:r>
          </a:p>
          <a:p>
            <a:pPr lvl="2"/>
            <a:r>
              <a:rPr lang="en-US" dirty="0"/>
              <a:t>Simplify your notebook code.</a:t>
            </a:r>
          </a:p>
          <a:p>
            <a:pPr lvl="2"/>
            <a:r>
              <a:rPr lang="en-US" dirty="0"/>
              <a:t>Reduce debugging time by using tested shared functions.</a:t>
            </a:r>
          </a:p>
          <a:p>
            <a:pPr lvl="2"/>
            <a:r>
              <a:rPr lang="en-US" dirty="0"/>
              <a:t>Applies principal of software module architecture</a:t>
            </a:r>
          </a:p>
          <a:p>
            <a:pPr marL="1371600" lvl="3" indent="0">
              <a:buNone/>
            </a:pPr>
            <a:r>
              <a:rPr lang="en-US" dirty="0">
                <a:hlinkClick r:id="rId2"/>
              </a:rPr>
              <a:t>https://appmaster.io/blog/why-use-a-modular-architecture-in-software-design</a:t>
            </a:r>
            <a:endParaRPr lang="en-US" dirty="0"/>
          </a:p>
          <a:p>
            <a:pPr lvl="1"/>
            <a:r>
              <a:rPr lang="en-US" dirty="0"/>
              <a:t>Still retain advantages of fast prototyping and experimentation of Notebooks.</a:t>
            </a:r>
          </a:p>
          <a:p>
            <a:pPr marL="1371600" lvl="3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1906162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616EDE-C681-FF0F-08B5-A0FCB45FC8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02 </a:t>
            </a:r>
            <a:r>
              <a:rPr lang="en-US" dirty="0" err="1"/>
              <a:t>PyTest</a:t>
            </a:r>
            <a:r>
              <a:rPr lang="en-US" dirty="0"/>
              <a:t> Fixtures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86C7A7-D78B-D59D-350E-215A2F7D72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0321" y="2336872"/>
            <a:ext cx="9613861" cy="4673527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You can use fixtures to setup and tear down test environments</a:t>
            </a:r>
          </a:p>
          <a:p>
            <a:pPr marL="0" indent="0">
              <a:buNone/>
            </a:pPr>
            <a:r>
              <a:rPr lang="en-US" dirty="0"/>
              <a:t>(See examples </a:t>
            </a:r>
            <a:r>
              <a:rPr lang="en-US" dirty="0" err="1"/>
              <a:t>test_bmi_health.py</a:t>
            </a:r>
            <a:r>
              <a:rPr lang="en-US" dirty="0"/>
              <a:t>  and </a:t>
            </a:r>
            <a:r>
              <a:rPr lang="en-US" dirty="0" err="1"/>
              <a:t>test_find_people.py</a:t>
            </a:r>
            <a:r>
              <a:rPr lang="en-US" dirty="0"/>
              <a:t>)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     @</a:t>
            </a:r>
            <a:r>
              <a:rPr lang="en-US" dirty="0" err="1"/>
              <a:t>pytest.fixture</a:t>
            </a:r>
            <a:r>
              <a:rPr lang="en-US" dirty="0"/>
              <a:t>()</a:t>
            </a:r>
          </a:p>
          <a:p>
            <a:pPr marL="457200" lvl="1" indent="0">
              <a:buNone/>
            </a:pPr>
            <a:r>
              <a:rPr lang="en-US" sz="2400" dirty="0"/>
              <a:t>def setup():</a:t>
            </a:r>
          </a:p>
          <a:p>
            <a:pPr marL="457200" lvl="1" indent="0">
              <a:buNone/>
            </a:pPr>
            <a:r>
              <a:rPr lang="en-US" sz="2400" dirty="0"/>
              <a:t>	# Setup code before each test</a:t>
            </a:r>
          </a:p>
          <a:p>
            <a:pPr marL="457200" lvl="1" indent="0">
              <a:buNone/>
            </a:pPr>
            <a:r>
              <a:rPr lang="en-US" sz="2400" dirty="0"/>
              <a:t>	yield ”data for test”</a:t>
            </a:r>
          </a:p>
          <a:p>
            <a:pPr marL="457200" lvl="1" indent="0">
              <a:buNone/>
            </a:pPr>
            <a:r>
              <a:rPr lang="en-US" sz="2400" dirty="0"/>
              <a:t>	# cleanup code after each test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     def test_1(</a:t>
            </a:r>
            <a:r>
              <a:rPr lang="en-US" sz="2400" dirty="0"/>
              <a:t>setup</a:t>
            </a:r>
            <a:r>
              <a:rPr lang="en-US" dirty="0"/>
              <a:t>):</a:t>
            </a:r>
          </a:p>
          <a:p>
            <a:pPr marL="0" indent="0">
              <a:buNone/>
            </a:pPr>
            <a:r>
              <a:rPr lang="en-US" dirty="0"/>
              <a:t>	# test case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197103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0C92C7-5B8D-513E-0BD9-B12A69C966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02 </a:t>
            </a:r>
            <a:r>
              <a:rPr lang="en-US" dirty="0" err="1"/>
              <a:t>Pytest</a:t>
            </a:r>
            <a:r>
              <a:rPr lang="en-US" dirty="0"/>
              <a:t> Create and Cleanup Test Data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FFBA40A-2CA8-CA42-A5C3-6CB6733DEF1A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680321" y="1990509"/>
            <a:ext cx="9613861" cy="57051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>
              <a:buNone/>
            </a:pPr>
            <a:r>
              <a:rPr lang="en-US" dirty="0"/>
              <a:t>@</a:t>
            </a:r>
            <a:r>
              <a:rPr lang="en-US" dirty="0" err="1"/>
              <a:t>pytest.fixture</a:t>
            </a:r>
            <a:r>
              <a:rPr lang="en-US" dirty="0"/>
              <a:t>()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def setup():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dirty="0"/>
              <a:t> """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Create and clean up test data</a:t>
            </a:r>
            <a:r>
              <a:rPr lang="en-US" dirty="0"/>
              <a:t>"""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mock_dir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mock_data.generate_test_data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find_people.GPFS_FOLDER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mock_dir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yield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mock_data.delete_temp_directory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mock_dir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def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test_legal_zipcode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(setup):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people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find_people.find_people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("10036")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assert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len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(people) == 1</a:t>
            </a:r>
          </a:p>
          <a:p>
            <a:pPr marL="0" indent="0">
              <a:buNone/>
            </a:pPr>
            <a:br>
              <a:rPr lang="en-US" sz="2400" dirty="0">
                <a:latin typeface="Courier" pitchFamily="2" charset="0"/>
              </a:rPr>
            </a:br>
            <a:endParaRPr lang="en-US" sz="2400" dirty="0">
              <a:latin typeface="Courier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295199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BD9AD9-672C-A2D1-FA72-61197115C9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Mocks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586C43-62D7-4038-7910-C54F82FDE3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Problem:</a:t>
            </a:r>
          </a:p>
          <a:p>
            <a:pPr marL="0" indent="0">
              <a:buNone/>
            </a:pPr>
            <a:r>
              <a:rPr lang="en-US" dirty="0"/>
              <a:t>	How do you write unit tests when your code…</a:t>
            </a:r>
          </a:p>
          <a:p>
            <a:pPr marL="0" indent="0">
              <a:buNone/>
            </a:pPr>
            <a:r>
              <a:rPr lang="en-US" dirty="0"/>
              <a:t>		* Reads and writes from a database.</a:t>
            </a:r>
          </a:p>
          <a:p>
            <a:pPr marL="0" indent="0">
              <a:buNone/>
            </a:pPr>
            <a:r>
              <a:rPr lang="en-US" dirty="0"/>
              <a:t>		* Reads or writes to a GPFS file on a specific server.</a:t>
            </a:r>
          </a:p>
          <a:p>
            <a:pPr marL="0" indent="0">
              <a:buNone/>
            </a:pPr>
            <a:r>
              <a:rPr lang="en-US" dirty="0"/>
              <a:t>		* Makes API calls to an external server.</a:t>
            </a:r>
          </a:p>
          <a:p>
            <a:pPr marL="0" indent="0">
              <a:buNone/>
            </a:pPr>
            <a:r>
              <a:rPr lang="en-US" dirty="0"/>
              <a:t>		* Makes calls to other complex packages.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Mocks to the rescue!</a:t>
            </a:r>
          </a:p>
        </p:txBody>
      </p:sp>
    </p:spTree>
    <p:extLst>
      <p:ext uri="{BB962C8B-B14F-4D97-AF65-F5344CB8AC3E}">
        <p14:creationId xmlns:p14="http://schemas.microsoft.com/office/powerpoint/2010/main" val="41895168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14BFEF-DE70-D65F-9F8C-D69BAA391C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02 </a:t>
            </a:r>
            <a:r>
              <a:rPr lang="en-US" dirty="0" err="1"/>
              <a:t>Pytest</a:t>
            </a:r>
            <a:r>
              <a:rPr lang="en-US" dirty="0"/>
              <a:t> Mocks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27F17B72-0F00-CCA8-28AF-E05D098A321B}"/>
              </a:ext>
            </a:extLst>
          </p:cNvPr>
          <p:cNvSpPr txBox="1">
            <a:spLocks/>
          </p:cNvSpPr>
          <p:nvPr/>
        </p:nvSpPr>
        <p:spPr>
          <a:xfrm>
            <a:off x="444794" y="2008909"/>
            <a:ext cx="10747975" cy="4655127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 err="1"/>
              <a:t>Pytest</a:t>
            </a:r>
            <a:r>
              <a:rPr lang="en-US" dirty="0"/>
              <a:t> Mocking can intercept application code for unit testing purposes.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Pass the built-in fixture named “mocker” to your test case.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Use </a:t>
            </a:r>
            <a:r>
              <a:rPr lang="en-US" dirty="0" err="1"/>
              <a:t>mocker.patch</a:t>
            </a:r>
            <a:r>
              <a:rPr lang="en-US" dirty="0"/>
              <a:t> to replace application code with a mock function.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   (See </a:t>
            </a:r>
            <a:r>
              <a:rPr lang="en-US" dirty="0" err="1"/>
              <a:t>flask_app.py</a:t>
            </a:r>
            <a:r>
              <a:rPr lang="en-US" dirty="0"/>
              <a:t> and </a:t>
            </a:r>
            <a:r>
              <a:rPr lang="en-US" dirty="0" err="1"/>
              <a:t>test_flask_app.py</a:t>
            </a:r>
            <a:r>
              <a:rPr lang="en-US" dirty="0"/>
              <a:t> for examples)</a:t>
            </a:r>
            <a:br>
              <a:rPr lang="en-US" dirty="0"/>
            </a:br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When the application code constructs the </a:t>
            </a:r>
            <a:r>
              <a:rPr lang="en-US" dirty="0" err="1"/>
              <a:t>flask.Response</a:t>
            </a:r>
            <a:r>
              <a:rPr lang="en-US" dirty="0"/>
              <a:t>() we intercept and assert.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5CA6394-07D3-0950-91DC-E228A78B252B}"/>
              </a:ext>
            </a:extLst>
          </p:cNvPr>
          <p:cNvSpPr txBox="1"/>
          <p:nvPr/>
        </p:nvSpPr>
        <p:spPr>
          <a:xfrm>
            <a:off x="999231" y="3498448"/>
            <a:ext cx="9712291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def</a:t>
            </a:r>
            <a:r>
              <a:rPr lang="en-US" sz="20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20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test_lookup_id</a:t>
            </a:r>
            <a:r>
              <a:rPr lang="en-US" sz="20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(mocker):</a:t>
            </a:r>
          </a:p>
          <a:p>
            <a:br>
              <a:rPr lang="en-US" sz="20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</a:br>
            <a:r>
              <a:rPr lang="en-US" sz="20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	</a:t>
            </a:r>
            <a:r>
              <a:rPr lang="en-US" sz="20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def</a:t>
            </a:r>
            <a:r>
              <a:rPr lang="en-US" sz="20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20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mock_response</a:t>
            </a:r>
            <a:r>
              <a:rPr lang="en-US" sz="20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(content):</a:t>
            </a:r>
          </a:p>
          <a:p>
            <a:r>
              <a:rPr lang="en-US" sz="20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		assert</a:t>
            </a:r>
            <a:r>
              <a:rPr lang="en-US" sz="20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2000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"How many dwarfs are not happy"</a:t>
            </a:r>
            <a:r>
              <a:rPr lang="en-US" sz="20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20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in</a:t>
            </a:r>
            <a:r>
              <a:rPr lang="en-US" sz="20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str(content)</a:t>
            </a:r>
          </a:p>
          <a:p>
            <a:r>
              <a:rPr lang="en-US" sz="20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		assert</a:t>
            </a:r>
            <a:r>
              <a:rPr lang="en-US" sz="20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2000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"6"</a:t>
            </a:r>
            <a:r>
              <a:rPr lang="en-US" sz="20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20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in</a:t>
            </a:r>
            <a:r>
              <a:rPr lang="en-US" sz="20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str(content)</a:t>
            </a:r>
          </a:p>
          <a:p>
            <a:br>
              <a:rPr lang="en-US" sz="20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</a:br>
            <a:r>
              <a:rPr lang="en-US" sz="20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	</a:t>
            </a:r>
            <a:r>
              <a:rPr lang="en-US" sz="20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mocker.patch</a:t>
            </a:r>
            <a:r>
              <a:rPr lang="en-US" sz="20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2000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"</a:t>
            </a:r>
            <a:r>
              <a:rPr lang="en-US" sz="2000" b="0" dirty="0" err="1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flask.Response</a:t>
            </a:r>
            <a:r>
              <a:rPr lang="en-US" sz="2000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"</a:t>
            </a:r>
            <a:r>
              <a:rPr lang="en-US" sz="20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, </a:t>
            </a:r>
            <a:r>
              <a:rPr lang="en-US" sz="20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side_effect</a:t>
            </a:r>
            <a:r>
              <a:rPr lang="en-US" sz="20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sz="20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mock_response</a:t>
            </a:r>
            <a:r>
              <a:rPr lang="en-US" sz="20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)</a:t>
            </a:r>
          </a:p>
          <a:p>
            <a:r>
              <a:rPr lang="en-US" sz="20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	</a:t>
            </a:r>
            <a:r>
              <a:rPr lang="en-US" sz="20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flask_app.get_questions</a:t>
            </a:r>
            <a:r>
              <a:rPr lang="en-US" sz="20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309434616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DB1030-15CE-F6DC-C139-A0BC21ED15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Where do you put tests?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B7DF6C-77B2-3C85-BF8F-0ADD6D39A4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0321" y="2336873"/>
            <a:ext cx="10248234" cy="3599316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No universally agreed upon right answer</a:t>
            </a:r>
          </a:p>
          <a:p>
            <a:pPr marL="0" indent="0">
              <a:buNone/>
            </a:pPr>
            <a:r>
              <a:rPr lang="en-US" dirty="0"/>
              <a:t>Common Conventions</a:t>
            </a:r>
          </a:p>
          <a:p>
            <a:pPr marL="0" indent="0">
              <a:buNone/>
            </a:pPr>
            <a:r>
              <a:rPr lang="en-US" dirty="0"/>
              <a:t>	(a) In directory with code</a:t>
            </a:r>
          </a:p>
          <a:p>
            <a:pPr marL="1371600" lvl="3" indent="0">
              <a:buNone/>
            </a:pPr>
            <a:r>
              <a:rPr lang="en-US" sz="2000" dirty="0"/>
              <a:t>Advantage – tests moves with code, easy to find tests</a:t>
            </a:r>
          </a:p>
          <a:p>
            <a:pPr marL="1371600" lvl="3" indent="0">
              <a:buNone/>
            </a:pPr>
            <a:r>
              <a:rPr lang="en-US" sz="2000" dirty="0"/>
              <a:t>Disadvantage – tests clutter up code directory, tests shipped with code</a:t>
            </a:r>
          </a:p>
          <a:p>
            <a:pPr marL="914400" lvl="2" indent="0">
              <a:buNone/>
            </a:pPr>
            <a:r>
              <a:rPr lang="en-US" sz="2200" dirty="0"/>
              <a:t>(b) In a tests directory with parallel structure with project root </a:t>
            </a:r>
            <a:r>
              <a:rPr lang="en-US" sz="2200" dirty="0" err="1"/>
              <a:t>dir</a:t>
            </a:r>
            <a:endParaRPr lang="en-US" sz="2200" dirty="0"/>
          </a:p>
          <a:p>
            <a:pPr marL="914400" lvl="2" indent="0">
              <a:buNone/>
            </a:pPr>
            <a:r>
              <a:rPr lang="en-US" sz="2200" dirty="0"/>
              <a:t>     Advantage – tests separated from code, not shipped with code</a:t>
            </a:r>
          </a:p>
          <a:p>
            <a:pPr marL="914400" lvl="2" indent="0">
              <a:buNone/>
            </a:pPr>
            <a:r>
              <a:rPr lang="en-US" sz="2200" dirty="0"/>
              <a:t>     Disadvantage – harder to find tests. May have to append </a:t>
            </a:r>
            <a:r>
              <a:rPr lang="en-US" sz="2200" dirty="0" err="1"/>
              <a:t>sys.path</a:t>
            </a:r>
            <a:r>
              <a:rPr lang="en-US" sz="22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4451559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66CA41-DF85-0C57-8B32-D4D433B957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Types of Testing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B4459D-194F-7248-D445-89BFF0C206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Unit Tests</a:t>
            </a:r>
          </a:p>
          <a:p>
            <a:r>
              <a:rPr lang="en-US" dirty="0"/>
              <a:t>Integration Tests</a:t>
            </a:r>
          </a:p>
          <a:p>
            <a:r>
              <a:rPr lang="en-US" dirty="0"/>
              <a:t>System Tests</a:t>
            </a:r>
          </a:p>
          <a:p>
            <a:r>
              <a:rPr lang="en-US" dirty="0"/>
              <a:t>Regression Tests</a:t>
            </a:r>
          </a:p>
          <a:p>
            <a:r>
              <a:rPr lang="en-US" dirty="0"/>
              <a:t>Negative tests</a:t>
            </a:r>
          </a:p>
          <a:p>
            <a:r>
              <a:rPr lang="en-US" dirty="0"/>
              <a:t>Non-Functional Tests (performance, security, scalability,…)</a:t>
            </a:r>
          </a:p>
          <a:p>
            <a:r>
              <a:rPr lang="en-US" dirty="0"/>
              <a:t>Test Coverage Criteria</a:t>
            </a:r>
          </a:p>
        </p:txBody>
      </p:sp>
    </p:spTree>
    <p:extLst>
      <p:ext uri="{BB962C8B-B14F-4D97-AF65-F5344CB8AC3E}">
        <p14:creationId xmlns:p14="http://schemas.microsoft.com/office/powerpoint/2010/main" val="4842992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911F1D-1A4C-9252-5800-FF2E9981A6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 Helpers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CE228C-AB6F-CBBD-EC3D-2CB40CF3FB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0321" y="2336873"/>
            <a:ext cx="10603375" cy="3599316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Goal – Tests should be small and fast.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Problem:</a:t>
            </a:r>
          </a:p>
          <a:p>
            <a:pPr marL="0" indent="0">
              <a:buNone/>
            </a:pPr>
            <a:r>
              <a:rPr lang="en-US" dirty="0"/>
              <a:t>	What happens when it is complicated to setup a test environment.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Solution:</a:t>
            </a:r>
          </a:p>
          <a:p>
            <a:pPr marL="0" indent="0">
              <a:buNone/>
            </a:pPr>
            <a:r>
              <a:rPr lang="en-US" dirty="0"/>
              <a:t>	Create utility classes or functions to help setup test environments.</a:t>
            </a:r>
          </a:p>
          <a:p>
            <a:pPr marL="0" indent="0">
              <a:buNone/>
            </a:pPr>
            <a:r>
              <a:rPr lang="en-US" dirty="0"/>
              <a:t>	Share utility package with test cases.</a:t>
            </a:r>
          </a:p>
        </p:txBody>
      </p:sp>
    </p:spTree>
    <p:extLst>
      <p:ext uri="{BB962C8B-B14F-4D97-AF65-F5344CB8AC3E}">
        <p14:creationId xmlns:p14="http://schemas.microsoft.com/office/powerpoint/2010/main" val="14933930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03442C-6E89-FEEF-9CEF-8696D0031E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03 </a:t>
            </a:r>
            <a:r>
              <a:rPr lang="en-US" dirty="0" err="1"/>
              <a:t>UnitTest</a:t>
            </a:r>
            <a:r>
              <a:rPr lang="en-US" dirty="0"/>
              <a:t> Library (alterative to </a:t>
            </a:r>
            <a:r>
              <a:rPr lang="en-US" dirty="0" err="1"/>
              <a:t>PyTest</a:t>
            </a:r>
            <a:r>
              <a:rPr lang="en-US" dirty="0"/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3A9E2C-28A8-5F3C-9F92-1975E96B3E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9469" y="2018829"/>
            <a:ext cx="9613861" cy="1711923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Is part of standard python library.</a:t>
            </a:r>
          </a:p>
          <a:p>
            <a:r>
              <a:rPr lang="en-US" dirty="0"/>
              <a:t>Tests written with python Classes.</a:t>
            </a:r>
          </a:p>
          <a:p>
            <a:r>
              <a:rPr lang="en-US" dirty="0"/>
              <a:t>Assertions with methods from </a:t>
            </a:r>
            <a:r>
              <a:rPr lang="en-US" dirty="0" err="1"/>
              <a:t>TestCase</a:t>
            </a:r>
            <a:r>
              <a:rPr lang="en-US" dirty="0"/>
              <a:t> class.</a:t>
            </a:r>
            <a:br>
              <a:rPr lang="en-US" dirty="0"/>
            </a:br>
            <a:endParaRPr lang="en-US" dirty="0"/>
          </a:p>
          <a:p>
            <a:pPr marL="0" indent="0">
              <a:buNone/>
            </a:pPr>
            <a:r>
              <a:rPr lang="en-US" dirty="0"/>
              <a:t>(see 03_unittest/examples. </a:t>
            </a:r>
            <a:r>
              <a:rPr lang="en-US" dirty="0" err="1"/>
              <a:t>bmi.py</a:t>
            </a:r>
            <a:r>
              <a:rPr lang="en-US" dirty="0"/>
              <a:t> and </a:t>
            </a:r>
            <a:r>
              <a:rPr lang="en-US" dirty="0" err="1"/>
              <a:t>test_bmi.py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BBE618A-4C2A-6A9A-8455-DC4AF139EF51}"/>
              </a:ext>
            </a:extLst>
          </p:cNvPr>
          <p:cNvSpPr txBox="1"/>
          <p:nvPr/>
        </p:nvSpPr>
        <p:spPr>
          <a:xfrm>
            <a:off x="1453661" y="3884316"/>
            <a:ext cx="9613861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>
              <a:buNone/>
            </a:pPr>
            <a:r>
              <a:rPr lang="en-US" sz="2400" dirty="0">
                <a:latin typeface="Courier" pitchFamily="2" charset="0"/>
              </a:rPr>
              <a:t>import </a:t>
            </a:r>
            <a:r>
              <a:rPr lang="en-US" sz="2400" dirty="0" err="1">
                <a:latin typeface="Courier" pitchFamily="2" charset="0"/>
              </a:rPr>
              <a:t>unittest</a:t>
            </a:r>
            <a:endParaRPr lang="en-US" sz="2400" dirty="0">
              <a:latin typeface="Courier" pitchFamily="2" charset="0"/>
            </a:endParaRPr>
          </a:p>
          <a:p>
            <a:pPr marL="0" indent="0">
              <a:buNone/>
            </a:pPr>
            <a:r>
              <a:rPr lang="en-US" sz="2400" dirty="0">
                <a:latin typeface="Courier" pitchFamily="2" charset="0"/>
              </a:rPr>
              <a:t>from </a:t>
            </a:r>
            <a:r>
              <a:rPr lang="en-US" sz="2400" dirty="0" err="1">
                <a:latin typeface="Courier" pitchFamily="2" charset="0"/>
              </a:rPr>
              <a:t>myfunc</a:t>
            </a:r>
            <a:r>
              <a:rPr lang="en-US" sz="2400" dirty="0">
                <a:latin typeface="Courier" pitchFamily="2" charset="0"/>
              </a:rPr>
              <a:t> import </a:t>
            </a:r>
            <a:r>
              <a:rPr lang="en-US" sz="2400" dirty="0" err="1">
                <a:latin typeface="Courier" pitchFamily="2" charset="0"/>
              </a:rPr>
              <a:t>my_func</a:t>
            </a:r>
            <a:endParaRPr lang="en-US" sz="2400" dirty="0">
              <a:latin typeface="Courier" pitchFamily="2" charset="0"/>
            </a:endParaRPr>
          </a:p>
          <a:p>
            <a:pPr marL="0" indent="0">
              <a:buNone/>
            </a:pPr>
            <a:endParaRPr lang="en-US" sz="2400" dirty="0">
              <a:latin typeface="Courier" pitchFamily="2" charset="0"/>
            </a:endParaRPr>
          </a:p>
          <a:p>
            <a:pPr marL="0" indent="0">
              <a:buNone/>
            </a:pPr>
            <a:r>
              <a:rPr lang="en-US" sz="2400" dirty="0">
                <a:latin typeface="Courier" pitchFamily="2" charset="0"/>
              </a:rPr>
              <a:t>class </a:t>
            </a:r>
            <a:r>
              <a:rPr lang="en-US" sz="2400" dirty="0" err="1">
                <a:latin typeface="Courier" pitchFamily="2" charset="0"/>
              </a:rPr>
              <a:t>MyTest</a:t>
            </a:r>
            <a:r>
              <a:rPr lang="en-US" sz="2400" dirty="0">
                <a:latin typeface="Courier" pitchFamily="2" charset="0"/>
              </a:rPr>
              <a:t>(</a:t>
            </a:r>
            <a:r>
              <a:rPr lang="en-US" sz="2400" dirty="0" err="1">
                <a:latin typeface="Courier" pitchFamily="2" charset="0"/>
              </a:rPr>
              <a:t>unittest.TestCase</a:t>
            </a:r>
            <a:r>
              <a:rPr lang="en-US" sz="2400" dirty="0">
                <a:latin typeface="Courier" pitchFamily="2" charset="0"/>
              </a:rPr>
              <a:t>):</a:t>
            </a:r>
          </a:p>
          <a:p>
            <a:pPr marL="0" indent="0">
              <a:buNone/>
            </a:pPr>
            <a:r>
              <a:rPr lang="en-US" sz="2400" dirty="0">
                <a:latin typeface="Courier" pitchFamily="2" charset="0"/>
              </a:rPr>
              <a:t>	def test_01(self):</a:t>
            </a:r>
          </a:p>
          <a:p>
            <a:pPr marL="0" indent="0">
              <a:buNone/>
            </a:pPr>
            <a:r>
              <a:rPr lang="en-US" sz="2400" dirty="0">
                <a:latin typeface="Courier" pitchFamily="2" charset="0"/>
              </a:rPr>
              <a:t>		result = </a:t>
            </a:r>
            <a:r>
              <a:rPr lang="en-US" sz="2400" dirty="0" err="1">
                <a:latin typeface="Courier" pitchFamily="2" charset="0"/>
              </a:rPr>
              <a:t>my_func</a:t>
            </a:r>
            <a:r>
              <a:rPr lang="en-US" sz="2400" dirty="0">
                <a:latin typeface="Courier" pitchFamily="2" charset="0"/>
              </a:rPr>
              <a:t>(0)</a:t>
            </a:r>
          </a:p>
          <a:p>
            <a:pPr marL="0" indent="0">
              <a:buNone/>
            </a:pPr>
            <a:r>
              <a:rPr lang="en-US" sz="2400" dirty="0">
                <a:latin typeface="Courier" pitchFamily="2" charset="0"/>
              </a:rPr>
              <a:t>		</a:t>
            </a:r>
            <a:r>
              <a:rPr lang="en-US" sz="2400" dirty="0" err="1">
                <a:latin typeface="Courier" pitchFamily="2" charset="0"/>
              </a:rPr>
              <a:t>self.assertEqual</a:t>
            </a:r>
            <a:r>
              <a:rPr lang="en-US" sz="2400" dirty="0">
                <a:latin typeface="Courier" pitchFamily="2" charset="0"/>
              </a:rPr>
              <a:t>(1, result)</a:t>
            </a:r>
          </a:p>
        </p:txBody>
      </p:sp>
    </p:spTree>
    <p:extLst>
      <p:ext uri="{BB962C8B-B14F-4D97-AF65-F5344CB8AC3E}">
        <p14:creationId xmlns:p14="http://schemas.microsoft.com/office/powerpoint/2010/main" val="3010173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9FF478-6F99-D45F-AB47-B407C21C95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03 Executing Unit tests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A4E9D1-F822-1238-D8B5-01D1A36167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0321" y="2050472"/>
            <a:ext cx="9613861" cy="465512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There are several ways to execute a unit test:</a:t>
            </a:r>
          </a:p>
          <a:p>
            <a:pPr marL="0" indent="0">
              <a:buNone/>
            </a:pPr>
            <a:r>
              <a:rPr lang="en-US" dirty="0"/>
              <a:t>	$ python –m </a:t>
            </a:r>
            <a:r>
              <a:rPr lang="en-US" dirty="0" err="1"/>
              <a:t>unittest</a:t>
            </a:r>
            <a:r>
              <a:rPr lang="en-US" dirty="0"/>
              <a:t> </a:t>
            </a:r>
            <a:r>
              <a:rPr lang="en-US" dirty="0" err="1"/>
              <a:t>test_circle_area.py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	$ python </a:t>
            </a:r>
            <a:r>
              <a:rPr lang="en-US" dirty="0" err="1"/>
              <a:t>test_circle_area.py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	$ </a:t>
            </a:r>
            <a:r>
              <a:rPr lang="en-US" dirty="0" err="1"/>
              <a:t>pytest</a:t>
            </a:r>
            <a:r>
              <a:rPr lang="en-US" dirty="0"/>
              <a:t> </a:t>
            </a:r>
            <a:r>
              <a:rPr lang="en-US" dirty="0" err="1"/>
              <a:t>test_circle_area.py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You can run a test suite with either with –m or with </a:t>
            </a:r>
            <a:r>
              <a:rPr lang="en-US" dirty="0" err="1"/>
              <a:t>pytest</a:t>
            </a:r>
            <a:r>
              <a:rPr lang="en-US" dirty="0"/>
              <a:t>:</a:t>
            </a:r>
          </a:p>
          <a:p>
            <a:pPr marL="0" indent="0">
              <a:buNone/>
            </a:pPr>
            <a:r>
              <a:rPr lang="en-US" dirty="0"/>
              <a:t>	$ python –m </a:t>
            </a:r>
            <a:r>
              <a:rPr lang="en-US" dirty="0" err="1"/>
              <a:t>unittest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	$ </a:t>
            </a:r>
            <a:r>
              <a:rPr lang="en-US" dirty="0" err="1"/>
              <a:t>pytest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2975549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CE1201-6411-2BA2-AB2D-E793E1C254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03 Unit Test Exceptions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8D253A-E33A-9D73-3284-881AD85B8B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0321" y="2336873"/>
            <a:ext cx="10387201" cy="932800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Test </a:t>
            </a:r>
            <a:r>
              <a:rPr lang="en-US" dirty="0" err="1"/>
              <a:t>execeptions</a:t>
            </a:r>
            <a:r>
              <a:rPr lang="en-US" dirty="0"/>
              <a:t> using </a:t>
            </a:r>
            <a:r>
              <a:rPr lang="en-US" dirty="0" err="1"/>
              <a:t>assertRaises</a:t>
            </a:r>
            <a:r>
              <a:rPr lang="en-US" dirty="0"/>
              <a:t>() from </a:t>
            </a:r>
            <a:r>
              <a:rPr lang="en-US" dirty="0" err="1"/>
              <a:t>unitest</a:t>
            </a:r>
            <a:r>
              <a:rPr lang="en-US" dirty="0"/>
              <a:t> library parent class.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2B2361F-E3EF-E13E-A690-55F5A4469189}"/>
              </a:ext>
            </a:extLst>
          </p:cNvPr>
          <p:cNvSpPr txBox="1"/>
          <p:nvPr/>
        </p:nvSpPr>
        <p:spPr>
          <a:xfrm>
            <a:off x="1453661" y="3427116"/>
            <a:ext cx="9613861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>
              <a:buNone/>
            </a:pPr>
            <a:r>
              <a:rPr lang="en-US" sz="2400" dirty="0">
                <a:latin typeface="Courier" pitchFamily="2" charset="0"/>
              </a:rPr>
              <a:t>import </a:t>
            </a:r>
            <a:r>
              <a:rPr lang="en-US" sz="2400" dirty="0" err="1">
                <a:latin typeface="Courier" pitchFamily="2" charset="0"/>
              </a:rPr>
              <a:t>unittest</a:t>
            </a:r>
            <a:endParaRPr lang="en-US" sz="2400" dirty="0">
              <a:latin typeface="Courier" pitchFamily="2" charset="0"/>
            </a:endParaRPr>
          </a:p>
          <a:p>
            <a:pPr marL="0" indent="0">
              <a:buNone/>
            </a:pPr>
            <a:r>
              <a:rPr lang="en-US" sz="2400" dirty="0">
                <a:latin typeface="Courier" pitchFamily="2" charset="0"/>
              </a:rPr>
              <a:t>from </a:t>
            </a:r>
            <a:r>
              <a:rPr lang="en-US" sz="2400" dirty="0" err="1">
                <a:latin typeface="Courier" pitchFamily="2" charset="0"/>
              </a:rPr>
              <a:t>bmi</a:t>
            </a:r>
            <a:r>
              <a:rPr lang="en-US" sz="2400" dirty="0">
                <a:latin typeface="Courier" pitchFamily="2" charset="0"/>
              </a:rPr>
              <a:t> import </a:t>
            </a:r>
            <a:r>
              <a:rPr lang="en-US" sz="2400" dirty="0" err="1">
                <a:latin typeface="Courier" pitchFamily="2" charset="0"/>
              </a:rPr>
              <a:t>bmi</a:t>
            </a:r>
            <a:endParaRPr lang="en-US" sz="2400" dirty="0">
              <a:latin typeface="Courier" pitchFamily="2" charset="0"/>
            </a:endParaRPr>
          </a:p>
          <a:p>
            <a:pPr marL="0" indent="0">
              <a:buNone/>
            </a:pPr>
            <a:endParaRPr lang="en-US" sz="2400" dirty="0">
              <a:latin typeface="Courier" pitchFamily="2" charset="0"/>
            </a:endParaRPr>
          </a:p>
          <a:p>
            <a:pPr marL="0" indent="0">
              <a:buNone/>
            </a:pPr>
            <a:r>
              <a:rPr lang="en-US" sz="2400" dirty="0">
                <a:latin typeface="Courier" pitchFamily="2" charset="0"/>
              </a:rPr>
              <a:t>class </a:t>
            </a:r>
            <a:r>
              <a:rPr lang="en-US" sz="2400" dirty="0" err="1">
                <a:latin typeface="Courier" pitchFamily="2" charset="0"/>
              </a:rPr>
              <a:t>MyTest</a:t>
            </a:r>
            <a:r>
              <a:rPr lang="en-US" sz="2400" dirty="0">
                <a:latin typeface="Courier" pitchFamily="2" charset="0"/>
              </a:rPr>
              <a:t>(</a:t>
            </a:r>
            <a:r>
              <a:rPr lang="en-US" sz="2400" dirty="0" err="1">
                <a:latin typeface="Courier" pitchFamily="2" charset="0"/>
              </a:rPr>
              <a:t>unittest.TestCase</a:t>
            </a:r>
            <a:r>
              <a:rPr lang="en-US" sz="2400" dirty="0">
                <a:latin typeface="Courier" pitchFamily="2" charset="0"/>
              </a:rPr>
              <a:t>):</a:t>
            </a:r>
          </a:p>
          <a:p>
            <a:pPr marL="0" indent="0">
              <a:buNone/>
            </a:pPr>
            <a:r>
              <a:rPr lang="en-US" sz="2400" dirty="0">
                <a:latin typeface="Courier" pitchFamily="2" charset="0"/>
              </a:rPr>
              <a:t>	def </a:t>
            </a:r>
            <a:r>
              <a:rPr lang="en-US" sz="2400" dirty="0" err="1">
                <a:latin typeface="Courier" pitchFamily="2" charset="0"/>
              </a:rPr>
              <a:t>test_values</a:t>
            </a:r>
            <a:r>
              <a:rPr lang="en-US" sz="2400" dirty="0">
                <a:latin typeface="Courier" pitchFamily="2" charset="0"/>
              </a:rPr>
              <a:t>(self):</a:t>
            </a:r>
          </a:p>
          <a:p>
            <a:pPr marL="0" indent="0">
              <a:buNone/>
            </a:pPr>
            <a:r>
              <a:rPr lang="en-US" sz="2400" dirty="0">
                <a:latin typeface="Courier" pitchFamily="2" charset="0"/>
              </a:rPr>
              <a:t>		with </a:t>
            </a:r>
            <a:r>
              <a:rPr lang="en-US" sz="2400" dirty="0" err="1">
                <a:latin typeface="Courier" pitchFamily="2" charset="0"/>
              </a:rPr>
              <a:t>self.assertRaises</a:t>
            </a:r>
            <a:r>
              <a:rPr lang="en-US" sz="2400" dirty="0">
                <a:latin typeface="Courier" pitchFamily="2" charset="0"/>
              </a:rPr>
              <a:t>(</a:t>
            </a:r>
            <a:r>
              <a:rPr lang="en-US" sz="2400" dirty="0" err="1">
                <a:latin typeface="Courier" pitchFamily="2" charset="0"/>
              </a:rPr>
              <a:t>ValueError</a:t>
            </a:r>
            <a:r>
              <a:rPr lang="en-US" sz="2400" dirty="0">
                <a:latin typeface="Courier" pitchFamily="2" charset="0"/>
              </a:rPr>
              <a:t>):</a:t>
            </a:r>
          </a:p>
          <a:p>
            <a:pPr marL="0" indent="0">
              <a:buNone/>
            </a:pPr>
            <a:r>
              <a:rPr lang="en-US" sz="2400" dirty="0">
                <a:latin typeface="Courier" pitchFamily="2" charset="0"/>
              </a:rPr>
              <a:t>			</a:t>
            </a:r>
            <a:r>
              <a:rPr lang="en-US" sz="2400" dirty="0" err="1">
                <a:latin typeface="Courier" pitchFamily="2" charset="0"/>
              </a:rPr>
              <a:t>bmi</a:t>
            </a:r>
            <a:r>
              <a:rPr lang="en-US" sz="2400" dirty="0">
                <a:latin typeface="Courier" pitchFamily="2" charset="0"/>
              </a:rPr>
              <a:t>(-1, 3)</a:t>
            </a:r>
          </a:p>
        </p:txBody>
      </p:sp>
    </p:spTree>
    <p:extLst>
      <p:ext uri="{BB962C8B-B14F-4D97-AF65-F5344CB8AC3E}">
        <p14:creationId xmlns:p14="http://schemas.microsoft.com/office/powerpoint/2010/main" val="41122087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8FB2AD-B5D4-D217-BB7C-5149AE41CA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03 </a:t>
            </a:r>
            <a:r>
              <a:rPr lang="en-US" dirty="0" err="1"/>
              <a:t>UnitTest</a:t>
            </a:r>
            <a:r>
              <a:rPr lang="en-US" dirty="0"/>
              <a:t> setup </a:t>
            </a:r>
            <a:r>
              <a:rPr lang="en-US" dirty="0" err="1"/>
              <a:t>tearDown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51E43C-8E94-B0ED-1A01-F8E3B543F7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0321" y="2115199"/>
            <a:ext cx="9613861" cy="452112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In a unit test you can add a method to setup and teardown an environment that runs before/after each test.</a:t>
            </a:r>
          </a:p>
          <a:p>
            <a:pPr marL="0" indent="0">
              <a:buNone/>
            </a:pPr>
            <a:endParaRPr lang="en-US" dirty="0"/>
          </a:p>
          <a:p>
            <a:pPr marL="457200" lvl="1" indent="0">
              <a:buNone/>
            </a:pPr>
            <a:r>
              <a:rPr lang="en-US" sz="2400" dirty="0"/>
              <a:t>class </a:t>
            </a:r>
            <a:r>
              <a:rPr lang="en-US" sz="2400" dirty="0" err="1"/>
              <a:t>Mytest</a:t>
            </a:r>
            <a:r>
              <a:rPr lang="en-US" sz="2400" dirty="0"/>
              <a:t>(</a:t>
            </a:r>
            <a:r>
              <a:rPr lang="en-US" sz="2400" dirty="0" err="1"/>
              <a:t>unittest.TestCase</a:t>
            </a:r>
            <a:r>
              <a:rPr lang="en-US" sz="2400" dirty="0"/>
              <a:t>):</a:t>
            </a:r>
          </a:p>
          <a:p>
            <a:pPr marL="457200" lvl="1" indent="0">
              <a:buNone/>
            </a:pPr>
            <a:r>
              <a:rPr lang="en-US" sz="2400" dirty="0"/>
              <a:t>	def </a:t>
            </a:r>
            <a:r>
              <a:rPr lang="en-US" sz="2400" dirty="0" err="1"/>
              <a:t>setUp</a:t>
            </a:r>
            <a:r>
              <a:rPr lang="en-US" sz="2400" dirty="0"/>
              <a:t>(self):</a:t>
            </a:r>
          </a:p>
          <a:p>
            <a:pPr marL="457200" lvl="1" indent="0">
              <a:buNone/>
            </a:pPr>
            <a:r>
              <a:rPr lang="en-US" sz="2400" dirty="0"/>
              <a:t>		”””Run before each test”””</a:t>
            </a:r>
          </a:p>
          <a:p>
            <a:pPr marL="457200" lvl="1" indent="0">
              <a:buNone/>
            </a:pPr>
            <a:r>
              <a:rPr lang="en-US" sz="2400" dirty="0"/>
              <a:t>	def </a:t>
            </a:r>
            <a:r>
              <a:rPr lang="en-US" sz="2400" dirty="0" err="1"/>
              <a:t>tearDown</a:t>
            </a:r>
            <a:r>
              <a:rPr lang="en-US" sz="2400" dirty="0"/>
              <a:t>(self):</a:t>
            </a:r>
          </a:p>
          <a:p>
            <a:pPr marL="457200" lvl="1" indent="0">
              <a:buNone/>
            </a:pPr>
            <a:r>
              <a:rPr lang="en-US" sz="2400" dirty="0"/>
              <a:t>		“””Run after each test”””</a:t>
            </a:r>
          </a:p>
          <a:p>
            <a:pPr marL="457200" lvl="1" indent="0">
              <a:buNone/>
            </a:pPr>
            <a:r>
              <a:rPr lang="en-US" sz="2400" dirty="0"/>
              <a:t>	def </a:t>
            </a:r>
            <a:r>
              <a:rPr lang="en-US" sz="2400" dirty="0" err="1"/>
              <a:t>setUpClass</a:t>
            </a:r>
            <a:r>
              <a:rPr lang="en-US" sz="2400" dirty="0"/>
              <a:t>(self):</a:t>
            </a:r>
          </a:p>
          <a:p>
            <a:pPr marL="457200" lvl="1" indent="0">
              <a:buNone/>
            </a:pPr>
            <a:r>
              <a:rPr lang="en-US" sz="2400" dirty="0"/>
              <a:t>		”””Run once before all tests”””</a:t>
            </a:r>
          </a:p>
          <a:p>
            <a:pPr marL="457200" lvl="1" indent="0">
              <a:buNone/>
            </a:pPr>
            <a:r>
              <a:rPr lang="en-US" sz="2400" dirty="0"/>
              <a:t>	def </a:t>
            </a:r>
            <a:r>
              <a:rPr lang="en-US" sz="2400" dirty="0" err="1"/>
              <a:t>tearDownClass</a:t>
            </a:r>
            <a:r>
              <a:rPr lang="en-US" sz="2400" dirty="0"/>
              <a:t>(self):</a:t>
            </a:r>
          </a:p>
          <a:p>
            <a:pPr marL="457200" lvl="1" indent="0">
              <a:buNone/>
            </a:pPr>
            <a:r>
              <a:rPr lang="en-US" sz="2400" dirty="0"/>
              <a:t>		“””Run once after all tests”””</a:t>
            </a:r>
          </a:p>
        </p:txBody>
      </p:sp>
    </p:spTree>
    <p:extLst>
      <p:ext uri="{BB962C8B-B14F-4D97-AF65-F5344CB8AC3E}">
        <p14:creationId xmlns:p14="http://schemas.microsoft.com/office/powerpoint/2010/main" val="166609659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E17595-A0D5-A95D-6DE2-B7E34B9313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04 </a:t>
            </a:r>
            <a:r>
              <a:rPr lang="en-US" dirty="0" err="1"/>
              <a:t>DocTest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8477D6-BD6B-FDDE-9085-E3BC21FCE9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0320" y="2025976"/>
            <a:ext cx="9613861" cy="4502840"/>
          </a:xfrm>
        </p:spPr>
        <p:txBody>
          <a:bodyPr>
            <a:normAutofit fontScale="70000" lnSpcReduction="20000"/>
          </a:bodyPr>
          <a:lstStyle/>
          <a:p>
            <a:r>
              <a:rPr lang="en-US" sz="3400" dirty="0"/>
              <a:t>Is part of standard python library</a:t>
            </a:r>
          </a:p>
          <a:p>
            <a:r>
              <a:rPr lang="en-US" sz="3400" dirty="0"/>
              <a:t>Tests written with ”””Doc comments in source code”””</a:t>
            </a:r>
          </a:p>
          <a:p>
            <a:r>
              <a:rPr lang="en-US" sz="3400" dirty="0"/>
              <a:t>Assertions written in Doc comments as well.</a:t>
            </a:r>
          </a:p>
          <a:p>
            <a:pPr marL="0" indent="0">
              <a:buNone/>
            </a:pPr>
            <a:r>
              <a:rPr lang="en-US" sz="3400" dirty="0"/>
              <a:t>       </a:t>
            </a:r>
          </a:p>
          <a:p>
            <a:pPr marL="457200" lvl="1" indent="0">
              <a:buNone/>
            </a:pPr>
            <a:r>
              <a:rPr lang="en-US" sz="2900" b="0" dirty="0">
                <a:effectLst/>
                <a:latin typeface="Courier" pitchFamily="2" charset="0"/>
              </a:rPr>
              <a:t>def </a:t>
            </a:r>
            <a:r>
              <a:rPr lang="en-US" sz="2900" b="0" dirty="0" err="1">
                <a:effectLst/>
                <a:latin typeface="Courier" pitchFamily="2" charset="0"/>
              </a:rPr>
              <a:t>add_one</a:t>
            </a:r>
            <a:r>
              <a:rPr lang="en-US" sz="2900" b="0" dirty="0">
                <a:effectLst/>
                <a:latin typeface="Courier" pitchFamily="2" charset="0"/>
              </a:rPr>
              <a:t>(n):</a:t>
            </a:r>
          </a:p>
          <a:p>
            <a:pPr marL="457200" lvl="1" indent="0">
              <a:buNone/>
            </a:pPr>
            <a:r>
              <a:rPr lang="en-US" sz="2900" b="0" dirty="0">
                <a:effectLst/>
                <a:latin typeface="Courier" pitchFamily="2" charset="0"/>
              </a:rPr>
              <a:t>	"""Add one to n.</a:t>
            </a:r>
          </a:p>
          <a:p>
            <a:pPr marL="457200" lvl="1" indent="0">
              <a:buNone/>
            </a:pPr>
            <a:r>
              <a:rPr lang="en-US" sz="2900" b="0" dirty="0">
                <a:effectLst/>
                <a:latin typeface="Courier" pitchFamily="2" charset="0"/>
              </a:rPr>
              <a:t>	&gt;&gt;&gt; </a:t>
            </a:r>
            <a:r>
              <a:rPr lang="en-US" sz="2900" b="0" dirty="0" err="1">
                <a:effectLst/>
                <a:latin typeface="Courier" pitchFamily="2" charset="0"/>
              </a:rPr>
              <a:t>add_one</a:t>
            </a:r>
            <a:r>
              <a:rPr lang="en-US" sz="2900" b="0" dirty="0">
                <a:effectLst/>
                <a:latin typeface="Courier" pitchFamily="2" charset="0"/>
              </a:rPr>
              <a:t>(3)</a:t>
            </a:r>
          </a:p>
          <a:p>
            <a:pPr marL="457200" lvl="1" indent="0">
              <a:buNone/>
            </a:pPr>
            <a:r>
              <a:rPr lang="en-US" sz="2900" b="0" dirty="0">
                <a:effectLst/>
                <a:latin typeface="Courier" pitchFamily="2" charset="0"/>
              </a:rPr>
              <a:t>	4</a:t>
            </a:r>
          </a:p>
          <a:p>
            <a:pPr marL="457200" lvl="1" indent="0">
              <a:buNone/>
            </a:pPr>
            <a:r>
              <a:rPr lang="en-US" sz="2900" b="0" dirty="0">
                <a:effectLst/>
                <a:latin typeface="Courier" pitchFamily="2" charset="0"/>
              </a:rPr>
              <a:t>	"""</a:t>
            </a:r>
          </a:p>
          <a:p>
            <a:pPr marL="457200" lvl="1" indent="0">
              <a:buNone/>
            </a:pPr>
            <a:r>
              <a:rPr lang="en-US" sz="2900" b="0" dirty="0">
                <a:effectLst/>
                <a:latin typeface="Courier" pitchFamily="2" charset="0"/>
              </a:rPr>
              <a:t>	return n + 1</a:t>
            </a:r>
          </a:p>
          <a:p>
            <a:pPr marL="457200" lvl="1" indent="0">
              <a:buNone/>
            </a:pPr>
            <a:endParaRPr lang="en-US" sz="2900" b="0" dirty="0">
              <a:effectLst/>
              <a:latin typeface="Courier" pitchFamily="2" charset="0"/>
            </a:endParaRPr>
          </a:p>
          <a:p>
            <a:pPr marL="457200" lvl="1" indent="0">
              <a:buNone/>
            </a:pPr>
            <a:r>
              <a:rPr lang="en-US" sz="2900" b="0" dirty="0">
                <a:effectLst/>
                <a:latin typeface="Courier" pitchFamily="2" charset="0"/>
              </a:rPr>
              <a:t>if __name__ == "__main__":</a:t>
            </a:r>
          </a:p>
          <a:p>
            <a:pPr marL="457200" lvl="1" indent="0">
              <a:buNone/>
            </a:pPr>
            <a:r>
              <a:rPr lang="en-US" sz="2900" b="0" dirty="0">
                <a:effectLst/>
                <a:latin typeface="Courier" pitchFamily="2" charset="0"/>
              </a:rPr>
              <a:t>	import </a:t>
            </a:r>
            <a:r>
              <a:rPr lang="en-US" sz="2900" b="0" dirty="0" err="1">
                <a:effectLst/>
                <a:latin typeface="Courier" pitchFamily="2" charset="0"/>
              </a:rPr>
              <a:t>doctest</a:t>
            </a:r>
            <a:endParaRPr lang="en-US" sz="2900" b="0" dirty="0">
              <a:effectLst/>
              <a:latin typeface="Courier" pitchFamily="2" charset="0"/>
            </a:endParaRPr>
          </a:p>
          <a:p>
            <a:pPr marL="457200" lvl="1" indent="0">
              <a:buNone/>
            </a:pPr>
            <a:r>
              <a:rPr lang="en-US" sz="2900" b="0" dirty="0">
                <a:effectLst/>
                <a:latin typeface="Courier" pitchFamily="2" charset="0"/>
              </a:rPr>
              <a:t>	</a:t>
            </a:r>
            <a:r>
              <a:rPr lang="en-US" sz="2900" b="0" dirty="0" err="1">
                <a:effectLst/>
                <a:latin typeface="Courier" pitchFamily="2" charset="0"/>
              </a:rPr>
              <a:t>doctest.testmod</a:t>
            </a:r>
            <a:r>
              <a:rPr lang="en-US" sz="2900" b="0" dirty="0">
                <a:effectLst/>
                <a:latin typeface="Courier" pitchFamily="2" charset="0"/>
              </a:rPr>
              <a:t>()</a:t>
            </a:r>
            <a:endParaRPr lang="en-US" sz="2900" b="0" dirty="0">
              <a:effectLst/>
              <a:latin typeface="Menlo" panose="020B0609030804020204" pitchFamily="49" charset="0"/>
            </a:endParaRP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650630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126664-8BE4-65A1-D9DD-B7A77299AC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05 C++ Testing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996BD5-C477-7FE7-4BEA-9FCB725D42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8434" y="2092372"/>
            <a:ext cx="9613861" cy="697272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Boost Test is a Popular Testing Framework for C++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3011BF-2B2E-1AE5-C772-7470F25E00E1}"/>
              </a:ext>
            </a:extLst>
          </p:cNvPr>
          <p:cNvSpPr txBox="1"/>
          <p:nvPr/>
        </p:nvSpPr>
        <p:spPr>
          <a:xfrm>
            <a:off x="1919705" y="2531194"/>
            <a:ext cx="7135091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#define BOOST_TEST_MODULE My Test</a:t>
            </a:r>
            <a:endParaRPr lang="en-US" b="0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  <a:p>
            <a:r>
              <a:rPr lang="en-US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#include </a:t>
            </a:r>
            <a:r>
              <a:rPr lang="en-US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&lt;boost/test/included/</a:t>
            </a:r>
            <a:r>
              <a:rPr lang="en-US" b="0" dirty="0" err="1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unit_test.hpp</a:t>
            </a:r>
            <a:r>
              <a:rPr lang="en-US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&gt;</a:t>
            </a:r>
            <a:endParaRPr lang="en-US" b="0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  <a:p>
            <a:br>
              <a:rPr lang="en-US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BOOST_AUTO_TEST_CASE(</a:t>
            </a:r>
            <a:r>
              <a:rPr lang="en-US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first_test</a:t>
            </a:r>
            <a:r>
              <a:rPr lang="en-US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)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{</a:t>
            </a:r>
          </a:p>
          <a:p>
            <a:r>
              <a:rPr lang="en-US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    int</a:t>
            </a:r>
            <a:r>
              <a:rPr lang="en-US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   BOOST_TEST(</a:t>
            </a:r>
            <a:r>
              <a:rPr lang="en-US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   BOOST_TEST(</a:t>
            </a:r>
            <a:r>
              <a:rPr lang="en-US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== </a:t>
            </a:r>
            <a:r>
              <a:rPr lang="en-US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2</a:t>
            </a:r>
            <a:r>
              <a:rPr lang="en-US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5A8009C-2A09-68C6-F2C7-4DD46FDB2A1A}"/>
              </a:ext>
            </a:extLst>
          </p:cNvPr>
          <p:cNvSpPr txBox="1"/>
          <p:nvPr/>
        </p:nvSpPr>
        <p:spPr>
          <a:xfrm>
            <a:off x="472503" y="5023835"/>
            <a:ext cx="10504799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$ g++ </a:t>
            </a:r>
            <a:r>
              <a:rPr lang="en-US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test_file.cpp</a:t>
            </a:r>
            <a:r>
              <a:rPr lang="en-US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$ ./</a:t>
            </a:r>
            <a:r>
              <a:rPr lang="en-US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a.out</a:t>
            </a:r>
            <a:r>
              <a:rPr lang="en-US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Running 1 test case...</a:t>
            </a:r>
          </a:p>
          <a:p>
            <a:r>
              <a:rPr lang="en-US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test_file.cpp</a:t>
            </a:r>
            <a:r>
              <a:rPr lang="en-US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(8): error: </a:t>
            </a:r>
            <a:r>
              <a:rPr lang="en-US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in</a:t>
            </a:r>
            <a:r>
              <a:rPr lang="en-US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"</a:t>
            </a:r>
            <a:r>
              <a:rPr lang="en-US" b="0" dirty="0" err="1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first_test</a:t>
            </a:r>
            <a:r>
              <a:rPr lang="en-US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: check </a:t>
            </a:r>
            <a:r>
              <a:rPr lang="en-US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== 2 has failed [1 != 2]</a:t>
            </a:r>
          </a:p>
          <a:p>
            <a:br>
              <a:rPr lang="en-US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*** 1 failure is detected </a:t>
            </a:r>
            <a:r>
              <a:rPr lang="en-US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in</a:t>
            </a:r>
            <a:r>
              <a:rPr lang="en-US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the test module </a:t>
            </a:r>
            <a:r>
              <a:rPr lang="en-US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"My Test"</a:t>
            </a:r>
            <a:r>
              <a:rPr lang="en-US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22297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323625-6E9D-8BD6-EF2A-3D3A89B403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TDD – Test Driven Design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D885AA-8633-4B1D-638C-C27E92A8A9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Refers to the practice of writing test BEFORE you write code.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Benefits:</a:t>
            </a:r>
          </a:p>
          <a:p>
            <a:r>
              <a:rPr lang="en-US" dirty="0"/>
              <a:t>Writing tests first helps you understand the specification.</a:t>
            </a:r>
          </a:p>
          <a:p>
            <a:r>
              <a:rPr lang="en-US" dirty="0"/>
              <a:t>Writing test to reproduce a bug proves it is fixed by the change.</a:t>
            </a:r>
          </a:p>
          <a:p>
            <a:r>
              <a:rPr lang="en-US" dirty="0"/>
              <a:t>Running tests as you develop lets you fix bugs early (is faster).</a:t>
            </a:r>
          </a:p>
        </p:txBody>
      </p:sp>
    </p:spTree>
    <p:extLst>
      <p:ext uri="{BB962C8B-B14F-4D97-AF65-F5344CB8AC3E}">
        <p14:creationId xmlns:p14="http://schemas.microsoft.com/office/powerpoint/2010/main" val="376764874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84A545-6FA8-C91A-FCC4-AAB0B775D4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Continuous Integration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645834-C049-7179-9280-BB2B0F2430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0321" y="2336873"/>
            <a:ext cx="10115498" cy="415357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dirty="0"/>
              <a:t>Continuous Integration</a:t>
            </a:r>
          </a:p>
          <a:p>
            <a:pPr lvl="1"/>
            <a:r>
              <a:rPr lang="en-US" sz="2400" dirty="0"/>
              <a:t>Jenkins, GitHub Actions, Circle CI, ….</a:t>
            </a:r>
          </a:p>
          <a:p>
            <a:pPr lvl="1"/>
            <a:r>
              <a:rPr lang="en-US" sz="2400" dirty="0"/>
              <a:t>Tools to automate the build and release of your project.</a:t>
            </a:r>
          </a:p>
          <a:p>
            <a:pPr lvl="1"/>
            <a:r>
              <a:rPr lang="en-US" sz="2400" dirty="0"/>
              <a:t>Can run your unit tests to validate before a release.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When to run tests?</a:t>
            </a:r>
          </a:p>
          <a:p>
            <a:pPr lvl="1"/>
            <a:r>
              <a:rPr lang="en-US" sz="2400" dirty="0"/>
              <a:t>Run tests after create a pull request, before you merge to main.</a:t>
            </a:r>
          </a:p>
          <a:p>
            <a:pPr lvl="1"/>
            <a:r>
              <a:rPr lang="en-US" sz="2400" dirty="0"/>
              <a:t>Run tests after you commit to main.</a:t>
            </a:r>
          </a:p>
          <a:p>
            <a:pPr lvl="1"/>
            <a:r>
              <a:rPr lang="en-US" sz="2400" dirty="0"/>
              <a:t>Developers run tests manually before committing.</a:t>
            </a:r>
          </a:p>
          <a:p>
            <a:pPr lvl="1"/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46654734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74E1C3-D64C-7DF6-AC08-417C3A2F99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E1EDA2-F5B8-476D-94C6-5094D6D6BD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0321" y="2336873"/>
            <a:ext cx="9613861" cy="414705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Any other questions?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Go out and write great code !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FILL OUT EVALUTION FORMS. </a:t>
            </a: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2025551"/>
      </p:ext>
    </p:extLst>
  </p:cSld>
  <p:clrMapOvr>
    <a:masterClrMapping/>
  </p:clrMapOvr>
</p:sld>
</file>

<file path=ppt/theme/theme1.xml><?xml version="1.0" encoding="utf-8"?>
<a:theme xmlns:a="http://schemas.openxmlformats.org/drawingml/2006/main" name="Berlin">
  <a:themeElements>
    <a:clrScheme name="Berlin">
      <a:dk1>
        <a:sysClr val="windowText" lastClr="000000"/>
      </a:dk1>
      <a:lt1>
        <a:sysClr val="window" lastClr="FFFFFF"/>
      </a:lt1>
      <a:dk2>
        <a:srgbClr val="9D360E"/>
      </a:dk2>
      <a:lt2>
        <a:srgbClr val="E7E6E6"/>
      </a:lt2>
      <a:accent1>
        <a:srgbClr val="F09415"/>
      </a:accent1>
      <a:accent2>
        <a:srgbClr val="C1B56B"/>
      </a:accent2>
      <a:accent3>
        <a:srgbClr val="4BAF73"/>
      </a:accent3>
      <a:accent4>
        <a:srgbClr val="5AA6C0"/>
      </a:accent4>
      <a:accent5>
        <a:srgbClr val="D17DF9"/>
      </a:accent5>
      <a:accent6>
        <a:srgbClr val="FA7E5C"/>
      </a:accent6>
      <a:hlink>
        <a:srgbClr val="FFAE3E"/>
      </a:hlink>
      <a:folHlink>
        <a:srgbClr val="FCC77E"/>
      </a:folHlink>
    </a:clrScheme>
    <a:fontScheme name="Berlin">
      <a:majorFont>
        <a:latin typeface="Trebuchet MS" panose="020B0603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Berlin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satMod val="100000"/>
                <a:lumMod val="110000"/>
              </a:schemeClr>
            </a:gs>
            <a:gs pos="100000">
              <a:schemeClr val="phClr">
                <a:tint val="70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6000"/>
                <a:shade val="100000"/>
                <a:hueMod val="270000"/>
                <a:satMod val="200000"/>
                <a:lumMod val="128000"/>
              </a:schemeClr>
            </a:gs>
            <a:gs pos="50000">
              <a:schemeClr val="phClr">
                <a:shade val="100000"/>
                <a:hueMod val="100000"/>
                <a:satMod val="110000"/>
                <a:lumMod val="130000"/>
              </a:schemeClr>
            </a:gs>
            <a:gs pos="100000">
              <a:schemeClr val="phClr">
                <a:shade val="78000"/>
                <a:hueMod val="44000"/>
                <a:satMod val="200000"/>
                <a:lumMod val="69000"/>
              </a:schemeClr>
            </a:gs>
          </a:gsLst>
          <a:lin ang="252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erlin" id="{7B5DBA9E-B069-418E-9360-A61BDD0615A4}" vid="{C0CBE056-4EF4-4D92-969E-947779DA7AA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Berlin</Template>
  <TotalTime>3452</TotalTime>
  <Words>2038</Words>
  <Application>Microsoft Macintosh PowerPoint</Application>
  <PresentationFormat>Widescreen</PresentationFormat>
  <Paragraphs>305</Paragraphs>
  <Slides>28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6" baseType="lpstr">
      <vt:lpstr>Arial</vt:lpstr>
      <vt:lpstr>Calibri</vt:lpstr>
      <vt:lpstr>Courier</vt:lpstr>
      <vt:lpstr>Courier New</vt:lpstr>
      <vt:lpstr>Menlo</vt:lpstr>
      <vt:lpstr>Tahoma</vt:lpstr>
      <vt:lpstr>Trebuchet MS</vt:lpstr>
      <vt:lpstr>Berlin</vt:lpstr>
      <vt:lpstr>Gotcha! How to Write Software Tests to Improve Code Quality</vt:lpstr>
      <vt:lpstr>Clone GIT Repository For Slides and Examples</vt:lpstr>
      <vt:lpstr>Unit Testing Syllabus (with Examples)</vt:lpstr>
      <vt:lpstr>Software Engineering</vt:lpstr>
      <vt:lpstr>What is Unit testing?</vt:lpstr>
      <vt:lpstr>Unit Testing Camps</vt:lpstr>
      <vt:lpstr>What is a Unit?</vt:lpstr>
      <vt:lpstr>Questions</vt:lpstr>
      <vt:lpstr>Test Frameworks</vt:lpstr>
      <vt:lpstr>02 PyTest</vt:lpstr>
      <vt:lpstr>02 PyTest Exception Tests</vt:lpstr>
      <vt:lpstr>Jupyter Notebooks</vt:lpstr>
      <vt:lpstr>02 PyTest Fixtures</vt:lpstr>
      <vt:lpstr>02 Pytest Create and Cleanup Test Data</vt:lpstr>
      <vt:lpstr>Mocks</vt:lpstr>
      <vt:lpstr>02 Pytest Mocks</vt:lpstr>
      <vt:lpstr>Where do you put tests?</vt:lpstr>
      <vt:lpstr>Types of Testing</vt:lpstr>
      <vt:lpstr>Test Helpers</vt:lpstr>
      <vt:lpstr>03 UnitTest Library (alterative to PyTest)</vt:lpstr>
      <vt:lpstr>03 Executing Unit tests</vt:lpstr>
      <vt:lpstr>03 Unit Test Exceptions</vt:lpstr>
      <vt:lpstr>03 UnitTest setup tearDown</vt:lpstr>
      <vt:lpstr>04 DocTest</vt:lpstr>
      <vt:lpstr>05 C++ Testing</vt:lpstr>
      <vt:lpstr>TDD – Test Driven Design</vt:lpstr>
      <vt:lpstr>Continuous Integration</vt:lpstr>
      <vt:lpstr>Questions?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Unit Testing</dc:title>
  <dc:creator>William M. Hasling</dc:creator>
  <cp:lastModifiedBy>William M. Hasling</cp:lastModifiedBy>
  <cp:revision>91</cp:revision>
  <dcterms:created xsi:type="dcterms:W3CDTF">2022-10-19T18:27:53Z</dcterms:created>
  <dcterms:modified xsi:type="dcterms:W3CDTF">2026-01-14T15:43:24Z</dcterms:modified>
</cp:coreProperties>
</file>