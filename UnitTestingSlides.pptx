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73" r:id="rId3"/>
    <p:sldId id="257" r:id="rId4"/>
    <p:sldId id="283" r:id="rId5"/>
    <p:sldId id="258" r:id="rId6"/>
    <p:sldId id="282" r:id="rId7"/>
    <p:sldId id="259" r:id="rId8"/>
    <p:sldId id="260" r:id="rId9"/>
    <p:sldId id="261" r:id="rId10"/>
    <p:sldId id="263" r:id="rId11"/>
    <p:sldId id="277" r:id="rId12"/>
    <p:sldId id="280" r:id="rId13"/>
    <p:sldId id="272" r:id="rId14"/>
    <p:sldId id="278" r:id="rId15"/>
    <p:sldId id="265" r:id="rId16"/>
    <p:sldId id="279" r:id="rId17"/>
    <p:sldId id="266" r:id="rId18"/>
    <p:sldId id="267" r:id="rId19"/>
    <p:sldId id="268" r:id="rId20"/>
    <p:sldId id="262" r:id="rId21"/>
    <p:sldId id="276" r:id="rId22"/>
    <p:sldId id="274" r:id="rId23"/>
    <p:sldId id="271" r:id="rId24"/>
    <p:sldId id="264" r:id="rId25"/>
    <p:sldId id="275" r:id="rId26"/>
    <p:sldId id="281" r:id="rId27"/>
    <p:sldId id="269" r:id="rId28"/>
    <p:sldId id="27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741"/>
    <p:restoredTop sz="86633"/>
  </p:normalViewPr>
  <p:slideViewPr>
    <p:cSldViewPr snapToGrid="0">
      <p:cViewPr varScale="1">
        <p:scale>
          <a:sx n="115" d="100"/>
          <a:sy n="115" d="100"/>
        </p:scale>
        <p:origin x="240" y="288"/>
      </p:cViewPr>
      <p:guideLst/>
    </p:cSldViewPr>
  </p:slideViewPr>
  <p:outlineViewPr>
    <p:cViewPr>
      <p:scale>
        <a:sx n="33" d="100"/>
        <a:sy n="33" d="100"/>
      </p:scale>
      <p:origin x="0" y="-95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A6A60-C693-BC49-85A7-98B318EF45A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D89F0-D00C-704A-A77B-5E0A27D97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3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14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2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33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4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37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83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D89F0-D00C-704A-A77B-5E0A27D974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2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ncetonUniversity/software_testing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ncetonUniversity/software_testing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PrincetonUniversity/software_testing.g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master.io/blog/why-use-a-modular-architecture-in-software-desig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4179-0E0D-13CA-EB9E-6EA63D07A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733709"/>
            <a:ext cx="8672056" cy="1373070"/>
          </a:xfrm>
        </p:spPr>
        <p:txBody>
          <a:bodyPr/>
          <a:lstStyle/>
          <a:p>
            <a:r>
              <a:rPr lang="en-US" sz="4400" dirty="0"/>
              <a:t>Gotcha! How to Write Software Tests to Improve Code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F011C-3BA0-175B-05AE-7A127763E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4295669"/>
            <a:ext cx="11896165" cy="1117687"/>
          </a:xfrm>
        </p:spPr>
        <p:txBody>
          <a:bodyPr/>
          <a:lstStyle/>
          <a:p>
            <a:pPr algn="ctr"/>
            <a:r>
              <a:rPr lang="en-US" dirty="0"/>
              <a:t>Princeton University </a:t>
            </a:r>
            <a:r>
              <a:rPr lang="en-US" dirty="0" err="1"/>
              <a:t>WinterSession</a:t>
            </a:r>
            <a:r>
              <a:rPr lang="en-US" dirty="0"/>
              <a:t> 2026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Instructor: Bill Hasling (Princeton RSE Staff)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745C-1E08-7DC5-90B8-E80AC1B79759}"/>
              </a:ext>
            </a:extLst>
          </p:cNvPr>
          <p:cNvSpPr txBox="1"/>
          <p:nvPr/>
        </p:nvSpPr>
        <p:spPr>
          <a:xfrm>
            <a:off x="338484" y="512925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git clone </a:t>
            </a: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https://github.com/PrincetonUniversity/software_testing.git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8A571-908F-93A8-6CB4-05ADA7E2DBF1}"/>
              </a:ext>
            </a:extLst>
          </p:cNvPr>
          <p:cNvSpPr txBox="1"/>
          <p:nvPr/>
        </p:nvSpPr>
        <p:spPr>
          <a:xfrm>
            <a:off x="7513825" y="252384"/>
            <a:ext cx="256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Tahoma" panose="020B0604030504040204" pitchFamily="34" charset="0"/>
              </a:rPr>
              <a:t> 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9A718-C1C0-1E97-6078-687074A81DFA}"/>
              </a:ext>
            </a:extLst>
          </p:cNvPr>
          <p:cNvSpPr txBox="1"/>
          <p:nvPr/>
        </p:nvSpPr>
        <p:spPr>
          <a:xfrm>
            <a:off x="338484" y="5865670"/>
            <a:ext cx="10873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On Adroit execute: (to load python virtual environment)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0" dirty="0">
                <a:effectLst/>
                <a:latin typeface="Menlo" panose="020B0609030804020204" pitchFamily="49" charset="0"/>
              </a:rPr>
              <a:t>source /scratch/network/wh3248/</a:t>
            </a:r>
            <a:r>
              <a:rPr lang="en-US" sz="2400" b="0" dirty="0" err="1">
                <a:effectLst/>
                <a:latin typeface="Menlo" panose="020B0609030804020204" pitchFamily="49" charset="0"/>
              </a:rPr>
              <a:t>shared_venv</a:t>
            </a:r>
            <a:r>
              <a:rPr lang="en-US" sz="2400" b="0" dirty="0">
                <a:effectLst/>
                <a:latin typeface="Menlo" panose="020B0609030804020204" pitchFamily="49" charset="0"/>
              </a:rPr>
              <a:t>/bin/activate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1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D287-EA3E-BB81-91C5-7A627B55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Clone GIT Repository For Slides and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859C-49C0-2DD5-94A0-05955D10B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2092036"/>
            <a:ext cx="11734800" cy="476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Clone Public Repo</a:t>
            </a:r>
          </a:p>
          <a:p>
            <a:pPr marL="0" indent="0">
              <a:buNone/>
            </a:pPr>
            <a:r>
              <a:rPr lang="en-US" dirty="0"/>
              <a:t>  git clone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https://github.com/PrincetonUniversity/software_testing.git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Slides in Repo Root Folder:  </a:t>
            </a:r>
            <a:r>
              <a:rPr lang="en-US" sz="2800" dirty="0" err="1"/>
              <a:t>UnitTestingSlides.pptx</a:t>
            </a:r>
            <a:endParaRPr lang="en-US" sz="2800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On Adroit execute: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0" dirty="0">
                <a:effectLst/>
                <a:latin typeface="Menlo" panose="020B0609030804020204" pitchFamily="49" charset="0"/>
              </a:rPr>
              <a:t>source /scratch/network/wh3248/</a:t>
            </a:r>
            <a:r>
              <a:rPr lang="en-US" b="0" dirty="0" err="1">
                <a:effectLst/>
                <a:latin typeface="Menlo" panose="020B0609030804020204" pitchFamily="49" charset="0"/>
              </a:rPr>
              <a:t>shared_venv</a:t>
            </a:r>
            <a:r>
              <a:rPr lang="en-US" b="0" dirty="0">
                <a:effectLst/>
                <a:latin typeface="Menlo" panose="020B0609030804020204" pitchFamily="49" charset="0"/>
              </a:rPr>
              <a:t>/bin/activate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Menlo" panose="020B0609030804020204" pitchFamily="49" charset="0"/>
              </a:rPr>
              <a:t>On laptop:</a:t>
            </a:r>
          </a:p>
          <a:p>
            <a:pPr marL="0" indent="0">
              <a:buNone/>
            </a:pPr>
            <a:r>
              <a:rPr lang="en-US" dirty="0">
                <a:latin typeface="Menlo" panose="020B0609030804020204" pitchFamily="49" charset="0"/>
              </a:rPr>
              <a:t>	pip install </a:t>
            </a:r>
            <a:r>
              <a:rPr lang="en-US" dirty="0" err="1">
                <a:latin typeface="Menlo" panose="020B0609030804020204" pitchFamily="49" charset="0"/>
              </a:rPr>
              <a:t>pytest</a:t>
            </a:r>
            <a:r>
              <a:rPr lang="en-US" dirty="0">
                <a:latin typeface="Menlo" panose="020B0609030804020204" pitchFamily="49" charset="0"/>
              </a:rPr>
              <a:t> </a:t>
            </a:r>
            <a:r>
              <a:rPr lang="en-US" dirty="0" err="1">
                <a:latin typeface="Menlo" panose="020B0609030804020204" pitchFamily="49" charset="0"/>
              </a:rPr>
              <a:t>pytest</a:t>
            </a:r>
            <a:r>
              <a:rPr lang="en-US" dirty="0">
                <a:latin typeface="Menlo" panose="020B0609030804020204" pitchFamily="49" charset="0"/>
              </a:rPr>
              <a:t>-mock flask requests</a:t>
            </a:r>
            <a:endParaRPr lang="en-US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6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25BD-ADC2-9F60-7AF0-89AA4B2A5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Syllabus</a:t>
            </a:r>
            <a:br>
              <a:rPr lang="en-US" dirty="0"/>
            </a:br>
            <a:r>
              <a:rPr lang="en-US" dirty="0"/>
              <a:t>(with 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9769-6211-B2A6-9FA1-993D82B9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386657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Unit Testing in Various Python Frameworks</a:t>
            </a:r>
          </a:p>
          <a:p>
            <a:pPr lvl="1"/>
            <a:r>
              <a:rPr lang="en-US" dirty="0" err="1"/>
              <a:t>Pytest</a:t>
            </a:r>
            <a:endParaRPr lang="en-US" dirty="0"/>
          </a:p>
          <a:p>
            <a:pPr lvl="1"/>
            <a:r>
              <a:rPr lang="en-US" dirty="0" err="1"/>
              <a:t>UnitTest</a:t>
            </a:r>
            <a:endParaRPr lang="en-US" dirty="0"/>
          </a:p>
          <a:p>
            <a:pPr lvl="1"/>
            <a:r>
              <a:rPr lang="en-US" dirty="0" err="1"/>
              <a:t>DocTest</a:t>
            </a:r>
            <a:endParaRPr lang="en-US" dirty="0"/>
          </a:p>
          <a:p>
            <a:pPr lvl="1"/>
            <a:r>
              <a:rPr lang="en-US" dirty="0"/>
              <a:t>Other computer languages</a:t>
            </a:r>
          </a:p>
          <a:p>
            <a:r>
              <a:rPr lang="en-US" dirty="0"/>
              <a:t>Mocking</a:t>
            </a:r>
          </a:p>
          <a:p>
            <a:r>
              <a:rPr lang="en-US" dirty="0"/>
              <a:t>Types of Testing</a:t>
            </a:r>
          </a:p>
          <a:p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r>
              <a:rPr lang="en-US" dirty="0"/>
              <a:t>TDD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2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3437-88CB-AD02-6894-6F2F93DD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3937-0BEA-91AF-4D54-AD048D3F2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Difference between Software Engineering and Plain Development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Process:</a:t>
            </a:r>
          </a:p>
          <a:p>
            <a:pPr lvl="1"/>
            <a:r>
              <a:rPr lang="en-US" dirty="0"/>
              <a:t>Version Control (e.g. GIT)</a:t>
            </a:r>
          </a:p>
          <a:p>
            <a:pPr lvl="1"/>
            <a:r>
              <a:rPr lang="en-US" dirty="0"/>
              <a:t>Naming and Coding Conventions (static analysis)</a:t>
            </a:r>
          </a:p>
          <a:p>
            <a:pPr lvl="1"/>
            <a:r>
              <a:rPr lang="en-US" dirty="0"/>
              <a:t>Task and Defect Tracking</a:t>
            </a:r>
          </a:p>
          <a:p>
            <a:pPr lvl="1"/>
            <a:r>
              <a:rPr lang="en-US" dirty="0"/>
              <a:t>Automation (e.g. continuous integration)</a:t>
            </a:r>
          </a:p>
          <a:p>
            <a:pPr lvl="1"/>
            <a:r>
              <a:rPr lang="en-US" dirty="0"/>
              <a:t>Specifications and Requirements</a:t>
            </a:r>
          </a:p>
          <a:p>
            <a:pPr lvl="1"/>
            <a:r>
              <a:rPr lang="en-US" dirty="0"/>
              <a:t>Software Design (modularity, repeatability, non-functional properties)</a:t>
            </a:r>
          </a:p>
          <a:p>
            <a:pPr lvl="1"/>
            <a:r>
              <a:rPr lang="en-US" dirty="0"/>
              <a:t>Testing (especially unit testing)</a:t>
            </a:r>
          </a:p>
        </p:txBody>
      </p:sp>
    </p:spTree>
    <p:extLst>
      <p:ext uri="{BB962C8B-B14F-4D97-AF65-F5344CB8AC3E}">
        <p14:creationId xmlns:p14="http://schemas.microsoft.com/office/powerpoint/2010/main" val="231038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A177-62EE-54A9-7F91-62727B976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EFEDD-45FE-EEC9-0DB0-F5D409DD4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749679" cy="35993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Verification that code works correctly</a:t>
            </a:r>
          </a:p>
          <a:p>
            <a:pPr lvl="1"/>
            <a:r>
              <a:rPr lang="en-US" dirty="0"/>
              <a:t>This shows what works (provides confidence in code).</a:t>
            </a:r>
          </a:p>
          <a:p>
            <a:pPr lvl="1"/>
            <a:r>
              <a:rPr lang="en-US" dirty="0"/>
              <a:t>This does not mean there are no bugs in the code (that it impossible).</a:t>
            </a:r>
          </a:p>
          <a:p>
            <a:pPr lvl="1"/>
            <a:r>
              <a:rPr lang="en-US" dirty="0"/>
              <a:t>But it does provide evidence of what works.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Benefits</a:t>
            </a:r>
          </a:p>
          <a:p>
            <a:r>
              <a:rPr lang="en-US" dirty="0"/>
              <a:t>Unit tests make debugging easier.</a:t>
            </a:r>
          </a:p>
          <a:p>
            <a:r>
              <a:rPr lang="en-US" dirty="0"/>
              <a:t>Unit tests make refactoring possible.</a:t>
            </a:r>
          </a:p>
          <a:p>
            <a:r>
              <a:rPr lang="en-US" dirty="0"/>
              <a:t>Unit tests increase the quality of your code.</a:t>
            </a:r>
          </a:p>
          <a:p>
            <a:r>
              <a:rPr lang="en-US" dirty="0"/>
              <a:t>Unit tests can help you evaluate your code structure and design choices.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34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676D-4DB6-5781-290B-ED750239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Camps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83272-6B9D-8889-A4D0-3892AC6B3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23100" cy="43266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dirty="0"/>
              <a:t>Opinions on the value of unit testing fall into 3 camps.</a:t>
            </a:r>
            <a:br>
              <a:rPr lang="en-US" sz="2900" dirty="0"/>
            </a:br>
            <a:endParaRPr lang="en-US" sz="2900" dirty="0"/>
          </a:p>
          <a:p>
            <a:pPr lvl="1"/>
            <a:r>
              <a:rPr lang="en-US" sz="2900" dirty="0"/>
              <a:t>The Skeptic</a:t>
            </a:r>
            <a:br>
              <a:rPr lang="en-US" sz="2900" dirty="0"/>
            </a:br>
            <a:r>
              <a:rPr lang="en-US" sz="2600" dirty="0"/>
              <a:t>This seems like a lot of work. I test my code anyway. I’m fine.</a:t>
            </a:r>
            <a:br>
              <a:rPr lang="en-US" sz="2900" dirty="0"/>
            </a:br>
            <a:endParaRPr lang="en-US" sz="2900" dirty="0"/>
          </a:p>
          <a:p>
            <a:pPr lvl="1"/>
            <a:r>
              <a:rPr lang="en-US" sz="2900" dirty="0"/>
              <a:t>The Convert</a:t>
            </a:r>
            <a:br>
              <a:rPr lang="en-US" sz="2900" dirty="0"/>
            </a:br>
            <a:r>
              <a:rPr lang="en-US" sz="2900" dirty="0"/>
              <a:t>This is great. I’m creating tests for every possible scenario.</a:t>
            </a:r>
            <a:br>
              <a:rPr lang="en-US" sz="2900" dirty="0"/>
            </a:br>
            <a:endParaRPr lang="en-US" sz="2900" dirty="0"/>
          </a:p>
          <a:p>
            <a:pPr lvl="1"/>
            <a:r>
              <a:rPr lang="en-US" sz="2900" dirty="0"/>
              <a:t>The Pragmatic</a:t>
            </a:r>
            <a:br>
              <a:rPr lang="en-US" sz="2900" dirty="0"/>
            </a:br>
            <a:r>
              <a:rPr lang="en-US" sz="2900" dirty="0"/>
              <a:t>Unit tests are important. I’m going to start small and grow.</a:t>
            </a:r>
          </a:p>
          <a:p>
            <a:pPr marL="457200" lvl="1" indent="0">
              <a:buNone/>
            </a:pPr>
            <a:br>
              <a:rPr lang="en-US" sz="2400" dirty="0"/>
            </a:b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35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2DDA-C88E-49A6-3226-2C4A8D16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Unit?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4A648-A74E-C083-B3C6-B7AEE780B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06433" cy="3985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unit is a function, module or class that can be invoked and tested independently.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Structure - All tests do the following (some steps optional)</a:t>
            </a:r>
          </a:p>
          <a:p>
            <a:pPr lvl="1"/>
            <a:r>
              <a:rPr lang="en-US" dirty="0"/>
              <a:t>Setup the environment for the test</a:t>
            </a:r>
          </a:p>
          <a:p>
            <a:pPr lvl="1"/>
            <a:r>
              <a:rPr lang="en-US" dirty="0"/>
              <a:t>Invoke the item to be tested with test arguments</a:t>
            </a:r>
          </a:p>
          <a:p>
            <a:pPr lvl="1"/>
            <a:r>
              <a:rPr lang="en-US" dirty="0"/>
              <a:t>Verify expected results</a:t>
            </a:r>
          </a:p>
          <a:p>
            <a:pPr lvl="1"/>
            <a:r>
              <a:rPr lang="en-US" dirty="0"/>
              <a:t>Clean up the environment of the test.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unit must be unit testable.</a:t>
            </a:r>
          </a:p>
        </p:txBody>
      </p:sp>
    </p:spTree>
    <p:extLst>
      <p:ext uri="{BB962C8B-B14F-4D97-AF65-F5344CB8AC3E}">
        <p14:creationId xmlns:p14="http://schemas.microsoft.com/office/powerpoint/2010/main" val="367208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DF1D-D062-2654-8715-B4E37AE3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6B7F-85EE-A154-22A1-5D13101F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examples of a testing unit?</a:t>
            </a:r>
          </a:p>
          <a:p>
            <a:r>
              <a:rPr lang="en-US" dirty="0"/>
              <a:t>Do complete unit tests mean there are no bugs in the code?</a:t>
            </a:r>
          </a:p>
          <a:p>
            <a:r>
              <a:rPr lang="en-US" dirty="0"/>
              <a:t>Does writing test cases slow down development?</a:t>
            </a:r>
          </a:p>
          <a:p>
            <a:r>
              <a:rPr lang="en-US" dirty="0"/>
              <a:t>Should there be test code for test code?</a:t>
            </a:r>
          </a:p>
          <a:p>
            <a:r>
              <a:rPr lang="en-US" dirty="0"/>
              <a:t>What does it mean when a test fails?</a:t>
            </a:r>
          </a:p>
          <a:p>
            <a:r>
              <a:rPr lang="en-US" dirty="0"/>
              <a:t>Can tests improve your code design?</a:t>
            </a:r>
          </a:p>
          <a:p>
            <a:r>
              <a:rPr lang="en-US" dirty="0"/>
              <a:t>What can it mean to “setup the environment for a test”?</a:t>
            </a:r>
          </a:p>
          <a:p>
            <a:r>
              <a:rPr lang="en-US" dirty="0"/>
              <a:t>What can it mean when it is difficult to write tests?</a:t>
            </a:r>
          </a:p>
        </p:txBody>
      </p:sp>
    </p:spTree>
    <p:extLst>
      <p:ext uri="{BB962C8B-B14F-4D97-AF65-F5344CB8AC3E}">
        <p14:creationId xmlns:p14="http://schemas.microsoft.com/office/powerpoint/2010/main" val="368228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9B3-62D5-D56C-54C8-0A67518F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D90F-E5F8-4587-E9EA-4F8EEA2CA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109599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let’s play with some examples 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git clone </a:t>
            </a:r>
            <a:r>
              <a:rPr lang="en-US" dirty="0">
                <a:hlinkClick r:id="rId3"/>
              </a:rPr>
              <a:t>git@github.com:PrincetonUniversity/software_testing.git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02_pytest</a:t>
            </a:r>
          </a:p>
          <a:p>
            <a:pPr marL="0" indent="0">
              <a:buNone/>
            </a:pPr>
            <a:r>
              <a:rPr lang="en-US" dirty="0"/>
              <a:t>	03_unittest</a:t>
            </a:r>
          </a:p>
          <a:p>
            <a:pPr marL="0" indent="0">
              <a:buNone/>
            </a:pPr>
            <a:r>
              <a:rPr lang="en-US" dirty="0"/>
              <a:t>	04_doctest</a:t>
            </a:r>
          </a:p>
          <a:p>
            <a:pPr marL="0" indent="0">
              <a:buNone/>
            </a:pPr>
            <a:r>
              <a:rPr lang="en-US" dirty="0"/>
              <a:t>	05_c++</a:t>
            </a:r>
          </a:p>
        </p:txBody>
      </p:sp>
    </p:spTree>
    <p:extLst>
      <p:ext uri="{BB962C8B-B14F-4D97-AF65-F5344CB8AC3E}">
        <p14:creationId xmlns:p14="http://schemas.microsoft.com/office/powerpoint/2010/main" val="268162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C8CA-23DC-00F6-9485-97991DED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F77E-93E8-297B-19D0-2CEFDBCB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70172"/>
            <a:ext cx="10402718" cy="4673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Requires “pip install </a:t>
            </a:r>
            <a:r>
              <a:rPr lang="en-US" dirty="0" err="1"/>
              <a:t>pytest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Execute with </a:t>
            </a:r>
            <a:r>
              <a:rPr lang="en-US" dirty="0" err="1"/>
              <a:t>pytest</a:t>
            </a:r>
            <a:r>
              <a:rPr lang="en-US" dirty="0"/>
              <a:t> command (in directory 02_pytest/examples):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sz="2400" dirty="0" err="1"/>
              <a:t>pytest</a:t>
            </a:r>
            <a:r>
              <a:rPr lang="en-US" sz="2400" dirty="0"/>
              <a:t> </a:t>
            </a:r>
            <a:r>
              <a:rPr lang="en-US" sz="2400" dirty="0" err="1"/>
              <a:t>test_geometric_area.py</a:t>
            </a: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800" i="1" dirty="0"/>
              <a:t>Or to run one test and view </a:t>
            </a:r>
            <a:r>
              <a:rPr lang="en-US" sz="1800" i="1" dirty="0" err="1"/>
              <a:t>stdout</a:t>
            </a:r>
            <a:r>
              <a:rPr lang="en-US" sz="1800" i="1" dirty="0"/>
              <a:t> while executing test</a:t>
            </a:r>
          </a:p>
          <a:p>
            <a:pPr marL="457200" lvl="1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pytest</a:t>
            </a:r>
            <a:r>
              <a:rPr lang="en-US" sz="2400" dirty="0"/>
              <a:t> –s </a:t>
            </a:r>
            <a:r>
              <a:rPr lang="en-US" sz="2400" dirty="0" err="1"/>
              <a:t>test_geometric_area</a:t>
            </a:r>
            <a:r>
              <a:rPr lang="en-US" sz="2400" dirty="0"/>
              <a:t> –k </a:t>
            </a:r>
            <a:r>
              <a:rPr lang="en-US" sz="2400" dirty="0" err="1"/>
              <a:t>test_area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ED173-C2F9-18B9-8090-CCB1DFE7FA10}"/>
              </a:ext>
            </a:extLst>
          </p:cNvPr>
          <p:cNvSpPr txBox="1"/>
          <p:nvPr/>
        </p:nvSpPr>
        <p:spPr>
          <a:xfrm>
            <a:off x="1469178" y="2521027"/>
            <a:ext cx="96138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math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</a:t>
            </a:r>
            <a:r>
              <a:rPr lang="en-US" sz="2400" dirty="0" err="1">
                <a:latin typeface="Courier" pitchFamily="2" charset="0"/>
              </a:rPr>
              <a:t>geometric_area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def </a:t>
            </a:r>
            <a:r>
              <a:rPr lang="en-US" sz="2400" dirty="0" err="1">
                <a:latin typeface="Courier" pitchFamily="2" charset="0"/>
              </a:rPr>
              <a:t>test_area</a:t>
            </a:r>
            <a:r>
              <a:rPr lang="en-US" sz="2400" dirty="0">
                <a:latin typeface="Courier" pitchFamily="2" charset="0"/>
              </a:rPr>
              <a:t>():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assert </a:t>
            </a:r>
            <a:r>
              <a:rPr lang="en-US" sz="2400" dirty="0" err="1">
                <a:latin typeface="Courier" pitchFamily="2" charset="0"/>
              </a:rPr>
              <a:t>geometric_area.circle_area</a:t>
            </a:r>
            <a:r>
              <a:rPr lang="en-US" sz="2400" dirty="0">
                <a:latin typeface="Courier" pitchFamily="2" charset="0"/>
              </a:rPr>
              <a:t>(1) = </a:t>
            </a:r>
            <a:r>
              <a:rPr lang="en-US" sz="2400" dirty="0" err="1">
                <a:latin typeface="Courier" pitchFamily="2" charset="0"/>
              </a:rPr>
              <a:t>math.pi</a:t>
            </a:r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	assert </a:t>
            </a:r>
            <a:r>
              <a:rPr lang="en-US" sz="2400" dirty="0" err="1">
                <a:latin typeface="Courier" pitchFamily="2" charset="0"/>
              </a:rPr>
              <a:t>geometric_area.circle_area</a:t>
            </a:r>
            <a:r>
              <a:rPr lang="en-US" sz="2400" dirty="0">
                <a:latin typeface="Courier" pitchFamily="2" charset="0"/>
              </a:rPr>
              <a:t>(0) = 0</a:t>
            </a:r>
            <a:br>
              <a:rPr lang="en-US" sz="2400" dirty="0">
                <a:latin typeface="Courier" pitchFamily="2" charset="0"/>
              </a:rPr>
            </a:br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5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2E75-9E37-F171-2F7F-61A5DD36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en-US" dirty="0" err="1"/>
              <a:t>PyTest</a:t>
            </a:r>
            <a:r>
              <a:rPr lang="en-US" dirty="0"/>
              <a:t> Exception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4D210-39E4-59B8-8003-BB378111C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useful to test your error handling in unit tests.</a:t>
            </a:r>
          </a:p>
          <a:p>
            <a:pPr marL="0" indent="0">
              <a:buNone/>
            </a:pPr>
            <a:r>
              <a:rPr lang="en-US" dirty="0"/>
              <a:t>(See example 02_pytest/examples/</a:t>
            </a:r>
            <a:r>
              <a:rPr lang="en-US" dirty="0" err="1"/>
              <a:t>test_geometric_area.py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File: </a:t>
            </a:r>
            <a:r>
              <a:rPr lang="en-US" dirty="0" err="1"/>
              <a:t>test_geometric_area.py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847A2-3A36-C41A-9713-D6E176156909}"/>
              </a:ext>
            </a:extLst>
          </p:cNvPr>
          <p:cNvSpPr txBox="1"/>
          <p:nvPr/>
        </p:nvSpPr>
        <p:spPr>
          <a:xfrm>
            <a:off x="1391824" y="4306799"/>
            <a:ext cx="96138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</a:t>
            </a:r>
            <a:r>
              <a:rPr lang="en-US" sz="2400" dirty="0" err="1">
                <a:latin typeface="Courier" pitchFamily="2" charset="0"/>
              </a:rPr>
              <a:t>pytest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</a:t>
            </a:r>
            <a:r>
              <a:rPr lang="en-US" sz="2400" dirty="0" err="1">
                <a:latin typeface="Courier" pitchFamily="2" charset="0"/>
              </a:rPr>
              <a:t>geometric_area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def </a:t>
            </a:r>
            <a:r>
              <a:rPr lang="en-US" sz="2400" dirty="0" err="1">
                <a:latin typeface="Courier" pitchFamily="2" charset="0"/>
              </a:rPr>
              <a:t>test_error_values</a:t>
            </a:r>
            <a:r>
              <a:rPr lang="en-US" sz="2400" dirty="0">
                <a:latin typeface="Courier" pitchFamily="2" charset="0"/>
              </a:rPr>
              <a:t>():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with </a:t>
            </a:r>
            <a:r>
              <a:rPr lang="en-US" sz="2400" dirty="0" err="1">
                <a:latin typeface="Courier" pitchFamily="2" charset="0"/>
              </a:rPr>
              <a:t>pytest.raises</a:t>
            </a:r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 err="1">
                <a:latin typeface="Courier" pitchFamily="2" charset="0"/>
              </a:rPr>
              <a:t>ValueError</a:t>
            </a:r>
            <a:r>
              <a:rPr lang="en-US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  </a:t>
            </a:r>
            <a:r>
              <a:rPr lang="en-US" sz="2400" dirty="0" err="1">
                <a:latin typeface="Courier" pitchFamily="2" charset="0"/>
              </a:rPr>
              <a:t>geometric_area.circle_area</a:t>
            </a:r>
            <a:r>
              <a:rPr lang="en-US" sz="2400" dirty="0">
                <a:latin typeface="Courier" pitchFamily="2" charset="0"/>
              </a:rPr>
              <a:t>(-2)</a:t>
            </a:r>
            <a:br>
              <a:rPr lang="en-US" sz="2400" dirty="0">
                <a:latin typeface="Courier" pitchFamily="2" charset="0"/>
              </a:rPr>
            </a:br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80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38F9-32CF-98D5-B3A0-D592C651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4C1D-6092-56DC-5F3C-1FC851E8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419801" cy="43185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can I apply unit testing with </a:t>
            </a:r>
            <a:r>
              <a:rPr lang="en-US" dirty="0" err="1"/>
              <a:t>Jupyter</a:t>
            </a:r>
            <a:r>
              <a:rPr lang="en-US" dirty="0"/>
              <a:t> notebooks?</a:t>
            </a:r>
          </a:p>
          <a:p>
            <a:pPr marL="0" indent="0">
              <a:buNone/>
            </a:pPr>
            <a:r>
              <a:rPr lang="en-US" dirty="0"/>
              <a:t>(See example 02_pytest/examples/</a:t>
            </a:r>
            <a:r>
              <a:rPr lang="en-US" dirty="0" err="1"/>
              <a:t>notebook.ipynb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My Recommendation:</a:t>
            </a:r>
          </a:p>
          <a:p>
            <a:pPr lvl="1"/>
            <a:r>
              <a:rPr lang="en-US" dirty="0"/>
              <a:t>Create modules in the same directory as .</a:t>
            </a:r>
            <a:r>
              <a:rPr lang="en-US" dirty="0" err="1"/>
              <a:t>ipynb</a:t>
            </a:r>
            <a:r>
              <a:rPr lang="en-US" dirty="0"/>
              <a:t> with helpful functions.</a:t>
            </a:r>
          </a:p>
          <a:p>
            <a:pPr lvl="1"/>
            <a:r>
              <a:rPr lang="en-US" dirty="0"/>
              <a:t>Write unit tests for the helpful functions</a:t>
            </a:r>
          </a:p>
          <a:p>
            <a:pPr lvl="1"/>
            <a:r>
              <a:rPr lang="en-US" dirty="0"/>
              <a:t>Use the helpful function in your notebook to:</a:t>
            </a:r>
          </a:p>
          <a:p>
            <a:pPr lvl="2"/>
            <a:r>
              <a:rPr lang="en-US" dirty="0"/>
              <a:t>Simplify your notebook code.</a:t>
            </a:r>
          </a:p>
          <a:p>
            <a:pPr lvl="2"/>
            <a:r>
              <a:rPr lang="en-US" dirty="0"/>
              <a:t>Reduce debugging time by using tested shared functions.</a:t>
            </a:r>
          </a:p>
          <a:p>
            <a:pPr lvl="2"/>
            <a:r>
              <a:rPr lang="en-US" dirty="0"/>
              <a:t>Applies principal of software module architecture</a:t>
            </a:r>
          </a:p>
          <a:p>
            <a:pPr marL="1371600" lvl="3" indent="0">
              <a:buNone/>
            </a:pPr>
            <a:r>
              <a:rPr lang="en-US" dirty="0">
                <a:hlinkClick r:id="rId2"/>
              </a:rPr>
              <a:t>https://appmaster.io/blog/why-use-a-modular-architecture-in-software-design</a:t>
            </a:r>
            <a:endParaRPr lang="en-US" dirty="0"/>
          </a:p>
          <a:p>
            <a:pPr lvl="1"/>
            <a:r>
              <a:rPr lang="en-US" dirty="0"/>
              <a:t>Still retain advantages of fast prototyping and experimentation of Notebooks.</a:t>
            </a:r>
          </a:p>
          <a:p>
            <a:pPr marL="1371600" lvl="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06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6EDE-C681-FF0F-08B5-A0FCB45F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en-US" dirty="0" err="1"/>
              <a:t>PyTest</a:t>
            </a:r>
            <a:r>
              <a:rPr lang="en-US" dirty="0"/>
              <a:t> Fixtures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C7A7-D78B-D59D-350E-215A2F7D7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673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can use fixtures to setup and tear down test environments</a:t>
            </a:r>
          </a:p>
          <a:p>
            <a:pPr marL="0" indent="0">
              <a:buNone/>
            </a:pPr>
            <a:r>
              <a:rPr lang="en-US" dirty="0"/>
              <a:t>(See examples </a:t>
            </a:r>
            <a:r>
              <a:rPr lang="en-US" dirty="0" err="1"/>
              <a:t>test_bmi_health.py</a:t>
            </a:r>
            <a:r>
              <a:rPr lang="en-US" dirty="0"/>
              <a:t>  and </a:t>
            </a:r>
            <a:r>
              <a:rPr lang="en-US" dirty="0" err="1"/>
              <a:t>test_find_people.py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@</a:t>
            </a:r>
            <a:r>
              <a:rPr lang="en-US" dirty="0" err="1"/>
              <a:t>pytest.fixture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sz="2400" dirty="0"/>
              <a:t>def setup():</a:t>
            </a:r>
          </a:p>
          <a:p>
            <a:pPr marL="457200" lvl="1" indent="0">
              <a:buNone/>
            </a:pPr>
            <a:r>
              <a:rPr lang="en-US" sz="2400" dirty="0"/>
              <a:t>	# Setup code before each test</a:t>
            </a:r>
          </a:p>
          <a:p>
            <a:pPr marL="457200" lvl="1" indent="0">
              <a:buNone/>
            </a:pPr>
            <a:r>
              <a:rPr lang="en-US" sz="2400" dirty="0"/>
              <a:t>	yield ”data for test”</a:t>
            </a:r>
          </a:p>
          <a:p>
            <a:pPr marL="457200" lvl="1" indent="0">
              <a:buNone/>
            </a:pPr>
            <a:r>
              <a:rPr lang="en-US" sz="2400" dirty="0"/>
              <a:t>	# cleanup code after each 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def test_1(</a:t>
            </a:r>
            <a:r>
              <a:rPr lang="en-US" sz="2400" dirty="0"/>
              <a:t>setup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# test case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71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92C7-5B8D-513E-0BD9-B12A69C9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en-US" dirty="0" err="1"/>
              <a:t>Pytest</a:t>
            </a:r>
            <a:r>
              <a:rPr lang="en-US" dirty="0"/>
              <a:t> Create and Cleanup Test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BA40A-2CA8-CA42-A5C3-6CB6733DEF1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0321" y="1990509"/>
            <a:ext cx="9613861" cy="570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pytest.fixture</a:t>
            </a:r>
            <a:r>
              <a:rPr lang="en-US" dirty="0"/>
              <a:t>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setup():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/>
              <a:t> """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and clean up test data</a:t>
            </a:r>
            <a:r>
              <a:rPr lang="en-US" dirty="0"/>
              <a:t>"""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mock_dir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mock_data.generate_test_data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find_people.GPFS_FOLDER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mock_dir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yield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mock_data.delete_temp_directory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mock_dir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test_legal_zipcode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(setup):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people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find_people.find_people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("10036")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assert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(people) == 1</a:t>
            </a:r>
          </a:p>
          <a:p>
            <a:pPr marL="0" indent="0">
              <a:buNone/>
            </a:pPr>
            <a:br>
              <a:rPr lang="en-US" sz="2400" dirty="0">
                <a:latin typeface="Courier" pitchFamily="2" charset="0"/>
              </a:rPr>
            </a:br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9AD9-672C-A2D1-FA72-61197115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6C43-62D7-4038-7910-C54F82FDE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Problem:</a:t>
            </a:r>
          </a:p>
          <a:p>
            <a:pPr marL="0" indent="0">
              <a:buNone/>
            </a:pPr>
            <a:r>
              <a:rPr lang="en-US" dirty="0"/>
              <a:t>	How do you write unit tests when your code…</a:t>
            </a:r>
          </a:p>
          <a:p>
            <a:pPr marL="0" indent="0">
              <a:buNone/>
            </a:pPr>
            <a:r>
              <a:rPr lang="en-US" dirty="0"/>
              <a:t>		* Reads and writes from a database.</a:t>
            </a:r>
          </a:p>
          <a:p>
            <a:pPr marL="0" indent="0">
              <a:buNone/>
            </a:pPr>
            <a:r>
              <a:rPr lang="en-US" dirty="0"/>
              <a:t>		* Reads or writes to a GPFS file on a specific server.</a:t>
            </a:r>
          </a:p>
          <a:p>
            <a:pPr marL="0" indent="0">
              <a:buNone/>
            </a:pPr>
            <a:r>
              <a:rPr lang="en-US" dirty="0"/>
              <a:t>		* Makes API calls to an external server.</a:t>
            </a:r>
          </a:p>
          <a:p>
            <a:pPr marL="0" indent="0">
              <a:buNone/>
            </a:pPr>
            <a:r>
              <a:rPr lang="en-US" dirty="0"/>
              <a:t>		* Makes calls to other complex packages.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Mocks to the rescue!</a:t>
            </a:r>
          </a:p>
        </p:txBody>
      </p:sp>
    </p:spTree>
    <p:extLst>
      <p:ext uri="{BB962C8B-B14F-4D97-AF65-F5344CB8AC3E}">
        <p14:creationId xmlns:p14="http://schemas.microsoft.com/office/powerpoint/2010/main" val="418951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BFEF-DE70-D65F-9F8C-D69BAA39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en-US" dirty="0" err="1"/>
              <a:t>Pytest</a:t>
            </a:r>
            <a:r>
              <a:rPr lang="en-US" dirty="0"/>
              <a:t> Mocks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F17B72-0F00-CCA8-28AF-E05D098A321B}"/>
              </a:ext>
            </a:extLst>
          </p:cNvPr>
          <p:cNvSpPr txBox="1">
            <a:spLocks/>
          </p:cNvSpPr>
          <p:nvPr/>
        </p:nvSpPr>
        <p:spPr>
          <a:xfrm>
            <a:off x="444794" y="2008909"/>
            <a:ext cx="10747975" cy="4655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Pytest</a:t>
            </a:r>
            <a:r>
              <a:rPr lang="en-US" dirty="0"/>
              <a:t> Mocking can intercept application code for unit testing purposes.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Pass the built-in fixture named “mocker” to your test case.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Use </a:t>
            </a:r>
            <a:r>
              <a:rPr lang="en-US" dirty="0" err="1"/>
              <a:t>mocker.patch</a:t>
            </a:r>
            <a:r>
              <a:rPr lang="en-US" dirty="0"/>
              <a:t> to replace application code with a mock function.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(See </a:t>
            </a:r>
            <a:r>
              <a:rPr lang="en-US" dirty="0" err="1"/>
              <a:t>flask_app.py</a:t>
            </a:r>
            <a:r>
              <a:rPr lang="en-US" dirty="0"/>
              <a:t> and </a:t>
            </a:r>
            <a:r>
              <a:rPr lang="en-US" dirty="0" err="1"/>
              <a:t>test_flask_app.py</a:t>
            </a:r>
            <a:r>
              <a:rPr lang="en-US" dirty="0"/>
              <a:t> for examples)</a:t>
            </a:r>
            <a:br>
              <a:rPr lang="en-US" dirty="0"/>
            </a:b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When the application code constructs the </a:t>
            </a:r>
            <a:r>
              <a:rPr lang="en-US" dirty="0" err="1"/>
              <a:t>flask.Response</a:t>
            </a:r>
            <a:r>
              <a:rPr lang="en-US" dirty="0"/>
              <a:t>() we intercept and assert.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A6394-07D3-0950-91DC-E228A78B252B}"/>
              </a:ext>
            </a:extLst>
          </p:cNvPr>
          <p:cNvSpPr txBox="1"/>
          <p:nvPr/>
        </p:nvSpPr>
        <p:spPr>
          <a:xfrm>
            <a:off x="999231" y="3498448"/>
            <a:ext cx="97122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test_lookup_id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(mocker):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mock_response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(content):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assert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"How many dwarfs are not happy"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str(content)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	assert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"6"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str(content)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mocker.patch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flask.Response</a:t>
            </a:r>
            <a:r>
              <a:rPr lang="en-US" sz="2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side_effect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mock_response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flask_app.get_questions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94346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1030-15CE-F6DC-C139-A0BC21ED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you put tests?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DF6C-77B2-3C85-BF8F-0ADD6D39A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248234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universally agreed upon right answer</a:t>
            </a:r>
          </a:p>
          <a:p>
            <a:pPr marL="0" indent="0">
              <a:buNone/>
            </a:pPr>
            <a:r>
              <a:rPr lang="en-US" dirty="0"/>
              <a:t>Common Conventions</a:t>
            </a:r>
          </a:p>
          <a:p>
            <a:pPr marL="0" indent="0">
              <a:buNone/>
            </a:pPr>
            <a:r>
              <a:rPr lang="en-US" dirty="0"/>
              <a:t>	(a) In directory with code</a:t>
            </a:r>
          </a:p>
          <a:p>
            <a:pPr marL="1371600" lvl="3" indent="0">
              <a:buNone/>
            </a:pPr>
            <a:r>
              <a:rPr lang="en-US" sz="2000" dirty="0"/>
              <a:t>Advantage – tests moves with code, easy to find tests</a:t>
            </a:r>
          </a:p>
          <a:p>
            <a:pPr marL="1371600" lvl="3" indent="0">
              <a:buNone/>
            </a:pPr>
            <a:r>
              <a:rPr lang="en-US" sz="2000" dirty="0"/>
              <a:t>Disadvantage – tests clutter up code directory, tests shipped with code</a:t>
            </a:r>
          </a:p>
          <a:p>
            <a:pPr marL="914400" lvl="2" indent="0">
              <a:buNone/>
            </a:pPr>
            <a:r>
              <a:rPr lang="en-US" sz="2200" dirty="0"/>
              <a:t>(b) In a tests directory with parallel structure with project root </a:t>
            </a:r>
            <a:r>
              <a:rPr lang="en-US" sz="2200" dirty="0" err="1"/>
              <a:t>dir</a:t>
            </a:r>
            <a:endParaRPr lang="en-US" sz="2200" dirty="0"/>
          </a:p>
          <a:p>
            <a:pPr marL="914400" lvl="2" indent="0">
              <a:buNone/>
            </a:pPr>
            <a:r>
              <a:rPr lang="en-US" sz="2200" dirty="0"/>
              <a:t>     Advantage – tests separated from code, not shipped with code</a:t>
            </a:r>
          </a:p>
          <a:p>
            <a:pPr marL="914400" lvl="2" indent="0">
              <a:buNone/>
            </a:pPr>
            <a:r>
              <a:rPr lang="en-US" sz="2200" dirty="0"/>
              <a:t>     Disadvantage – harder to find tests. May have to append </a:t>
            </a:r>
            <a:r>
              <a:rPr lang="en-US" sz="2200" dirty="0" err="1"/>
              <a:t>sys.path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1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CA41-DF85-0C57-8B32-D4D433B9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4459D-194F-7248-D445-89BFF0C2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  <a:p>
            <a:r>
              <a:rPr lang="en-US" dirty="0"/>
              <a:t>Integration Tests</a:t>
            </a:r>
          </a:p>
          <a:p>
            <a:r>
              <a:rPr lang="en-US" dirty="0"/>
              <a:t>System Tests</a:t>
            </a:r>
          </a:p>
          <a:p>
            <a:r>
              <a:rPr lang="en-US" dirty="0"/>
              <a:t>Regression Tests</a:t>
            </a:r>
          </a:p>
          <a:p>
            <a:r>
              <a:rPr lang="en-US" dirty="0"/>
              <a:t>Negative tests</a:t>
            </a:r>
          </a:p>
          <a:p>
            <a:r>
              <a:rPr lang="en-US" dirty="0"/>
              <a:t>Non-Functional Tests (performance, security, scalability,…)</a:t>
            </a:r>
          </a:p>
          <a:p>
            <a:r>
              <a:rPr lang="en-US" dirty="0"/>
              <a:t>Test Coverage Criteria</a:t>
            </a:r>
          </a:p>
        </p:txBody>
      </p:sp>
    </p:spTree>
    <p:extLst>
      <p:ext uri="{BB962C8B-B14F-4D97-AF65-F5344CB8AC3E}">
        <p14:creationId xmlns:p14="http://schemas.microsoft.com/office/powerpoint/2010/main" val="48429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1F1D-1A4C-9252-5800-FF2E9981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228C-AB6F-CBBD-EC3D-2CB40CF3F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603375" cy="35993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Goal – Tests should be small and fast.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Problem:</a:t>
            </a:r>
          </a:p>
          <a:p>
            <a:pPr marL="0" indent="0">
              <a:buNone/>
            </a:pPr>
            <a:r>
              <a:rPr lang="en-US" dirty="0"/>
              <a:t>	What happens when it is complicated to setup a test environment.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dirty="0"/>
              <a:t>	Create utility classes or functions to help setup test environments.</a:t>
            </a:r>
          </a:p>
          <a:p>
            <a:pPr marL="0" indent="0">
              <a:buNone/>
            </a:pPr>
            <a:r>
              <a:rPr lang="en-US" dirty="0"/>
              <a:t>	Share utility package with test cases.</a:t>
            </a:r>
          </a:p>
        </p:txBody>
      </p:sp>
    </p:spTree>
    <p:extLst>
      <p:ext uri="{BB962C8B-B14F-4D97-AF65-F5344CB8AC3E}">
        <p14:creationId xmlns:p14="http://schemas.microsoft.com/office/powerpoint/2010/main" val="149339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442C-6E89-FEEF-9CEF-8696D003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</a:t>
            </a:r>
            <a:r>
              <a:rPr lang="en-US" dirty="0" err="1"/>
              <a:t>UnitTest</a:t>
            </a:r>
            <a:r>
              <a:rPr lang="en-US" dirty="0"/>
              <a:t> Library (alterative to </a:t>
            </a:r>
            <a:r>
              <a:rPr lang="en-US" dirty="0" err="1"/>
              <a:t>PyTest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9E2C-28A8-5F3C-9F92-1975E96B3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69" y="2018829"/>
            <a:ext cx="9613861" cy="171192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Is part of standard python library.</a:t>
            </a:r>
          </a:p>
          <a:p>
            <a:r>
              <a:rPr lang="en-US" dirty="0"/>
              <a:t>Tests written with python Classes.</a:t>
            </a:r>
          </a:p>
          <a:p>
            <a:r>
              <a:rPr lang="en-US" dirty="0"/>
              <a:t>Assertions with methods from </a:t>
            </a:r>
            <a:r>
              <a:rPr lang="en-US" dirty="0" err="1"/>
              <a:t>TestCase</a:t>
            </a:r>
            <a:r>
              <a:rPr lang="en-US" dirty="0"/>
              <a:t> class.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(see 03_unittest/examples. </a:t>
            </a:r>
            <a:r>
              <a:rPr lang="en-US" dirty="0" err="1"/>
              <a:t>bmi.py</a:t>
            </a:r>
            <a:r>
              <a:rPr lang="en-US" dirty="0"/>
              <a:t> and </a:t>
            </a:r>
            <a:r>
              <a:rPr lang="en-US" dirty="0" err="1"/>
              <a:t>test_bmi.py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E618A-4C2A-6A9A-8455-DC4AF139EF51}"/>
              </a:ext>
            </a:extLst>
          </p:cNvPr>
          <p:cNvSpPr txBox="1"/>
          <p:nvPr/>
        </p:nvSpPr>
        <p:spPr>
          <a:xfrm>
            <a:off x="1453661" y="3884316"/>
            <a:ext cx="96138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</a:t>
            </a:r>
            <a:r>
              <a:rPr lang="en-US" sz="2400" dirty="0" err="1">
                <a:latin typeface="Courier" pitchFamily="2" charset="0"/>
              </a:rPr>
              <a:t>unittest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from </a:t>
            </a:r>
            <a:r>
              <a:rPr lang="en-US" sz="2400" dirty="0" err="1">
                <a:latin typeface="Courier" pitchFamily="2" charset="0"/>
              </a:rPr>
              <a:t>myfunc</a:t>
            </a:r>
            <a:r>
              <a:rPr lang="en-US" sz="2400" dirty="0">
                <a:latin typeface="Courier" pitchFamily="2" charset="0"/>
              </a:rPr>
              <a:t> import </a:t>
            </a:r>
            <a:r>
              <a:rPr lang="en-US" sz="2400" dirty="0" err="1">
                <a:latin typeface="Courier" pitchFamily="2" charset="0"/>
              </a:rPr>
              <a:t>my_func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class </a:t>
            </a:r>
            <a:r>
              <a:rPr lang="en-US" sz="2400" dirty="0" err="1">
                <a:latin typeface="Courier" pitchFamily="2" charset="0"/>
              </a:rPr>
              <a:t>MyTest</a:t>
            </a:r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 err="1">
                <a:latin typeface="Courier" pitchFamily="2" charset="0"/>
              </a:rPr>
              <a:t>unittest.TestCase</a:t>
            </a:r>
            <a:r>
              <a:rPr lang="en-US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def test_01(self):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	result = </a:t>
            </a:r>
            <a:r>
              <a:rPr lang="en-US" sz="2400" dirty="0" err="1">
                <a:latin typeface="Courier" pitchFamily="2" charset="0"/>
              </a:rPr>
              <a:t>my_func</a:t>
            </a:r>
            <a:r>
              <a:rPr lang="en-US" sz="2400" dirty="0">
                <a:latin typeface="Courier" pitchFamily="2" charset="0"/>
              </a:rPr>
              <a:t>(0)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	</a:t>
            </a:r>
            <a:r>
              <a:rPr lang="en-US" sz="2400" dirty="0" err="1">
                <a:latin typeface="Courier" pitchFamily="2" charset="0"/>
              </a:rPr>
              <a:t>self.assertEqual</a:t>
            </a:r>
            <a:r>
              <a:rPr lang="en-US" sz="2400" dirty="0">
                <a:latin typeface="Courier" pitchFamily="2" charset="0"/>
              </a:rPr>
              <a:t>(1, result)</a:t>
            </a:r>
          </a:p>
        </p:txBody>
      </p:sp>
    </p:spTree>
    <p:extLst>
      <p:ext uri="{BB962C8B-B14F-4D97-AF65-F5344CB8AC3E}">
        <p14:creationId xmlns:p14="http://schemas.microsoft.com/office/powerpoint/2010/main" val="30101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F478-6F99-D45F-AB47-B407C21C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Executing 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E9D1-F822-1238-D8B5-01D1A3616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50472"/>
            <a:ext cx="9613861" cy="4655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several ways to execute a unit test:</a:t>
            </a:r>
          </a:p>
          <a:p>
            <a:pPr marL="0" indent="0">
              <a:buNone/>
            </a:pPr>
            <a:r>
              <a:rPr lang="en-US" dirty="0"/>
              <a:t>	$ python –m </a:t>
            </a:r>
            <a:r>
              <a:rPr lang="en-US" dirty="0" err="1"/>
              <a:t>unittest</a:t>
            </a:r>
            <a:r>
              <a:rPr lang="en-US" dirty="0"/>
              <a:t> </a:t>
            </a:r>
            <a:r>
              <a:rPr lang="en-US" dirty="0" err="1"/>
              <a:t>test_circle_area.py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$ python </a:t>
            </a:r>
            <a:r>
              <a:rPr lang="en-US" dirty="0" err="1"/>
              <a:t>test_circle_area.py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$ </a:t>
            </a:r>
            <a:r>
              <a:rPr lang="en-US" dirty="0" err="1"/>
              <a:t>pytest</a:t>
            </a:r>
            <a:r>
              <a:rPr lang="en-US" dirty="0"/>
              <a:t> </a:t>
            </a:r>
            <a:r>
              <a:rPr lang="en-US" dirty="0" err="1"/>
              <a:t>test_circle_area.py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run a test suite with either with –m or with </a:t>
            </a:r>
            <a:r>
              <a:rPr lang="en-US" dirty="0" err="1"/>
              <a:t>pytest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$ python –m </a:t>
            </a:r>
            <a:r>
              <a:rPr lang="en-US" dirty="0" err="1"/>
              <a:t>unittest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$ </a:t>
            </a:r>
            <a:r>
              <a:rPr lang="en-US" dirty="0" err="1"/>
              <a:t>pytest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55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1201-6411-2BA2-AB2D-E793E1C2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Unit Test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D253A-E33A-9D73-3284-881AD85B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387201" cy="932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execeptions</a:t>
            </a:r>
            <a:r>
              <a:rPr lang="en-US" dirty="0"/>
              <a:t> using </a:t>
            </a:r>
            <a:r>
              <a:rPr lang="en-US" dirty="0" err="1"/>
              <a:t>assertRaises</a:t>
            </a:r>
            <a:r>
              <a:rPr lang="en-US" dirty="0"/>
              <a:t>() from </a:t>
            </a:r>
            <a:r>
              <a:rPr lang="en-US" dirty="0" err="1"/>
              <a:t>unitest</a:t>
            </a:r>
            <a:r>
              <a:rPr lang="en-US" dirty="0"/>
              <a:t> library parent class.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2361F-E3EF-E13E-A690-55F5A4469189}"/>
              </a:ext>
            </a:extLst>
          </p:cNvPr>
          <p:cNvSpPr txBox="1"/>
          <p:nvPr/>
        </p:nvSpPr>
        <p:spPr>
          <a:xfrm>
            <a:off x="1453661" y="3427116"/>
            <a:ext cx="96138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import </a:t>
            </a:r>
            <a:r>
              <a:rPr lang="en-US" sz="2400" dirty="0" err="1">
                <a:latin typeface="Courier" pitchFamily="2" charset="0"/>
              </a:rPr>
              <a:t>unittest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from </a:t>
            </a:r>
            <a:r>
              <a:rPr lang="en-US" sz="2400" dirty="0" err="1">
                <a:latin typeface="Courier" pitchFamily="2" charset="0"/>
              </a:rPr>
              <a:t>bmi</a:t>
            </a:r>
            <a:r>
              <a:rPr lang="en-US" sz="2400" dirty="0">
                <a:latin typeface="Courier" pitchFamily="2" charset="0"/>
              </a:rPr>
              <a:t> import </a:t>
            </a:r>
            <a:r>
              <a:rPr lang="en-US" sz="2400" dirty="0" err="1">
                <a:latin typeface="Courier" pitchFamily="2" charset="0"/>
              </a:rPr>
              <a:t>bmi</a:t>
            </a: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class </a:t>
            </a:r>
            <a:r>
              <a:rPr lang="en-US" sz="2400" dirty="0" err="1">
                <a:latin typeface="Courier" pitchFamily="2" charset="0"/>
              </a:rPr>
              <a:t>MyTest</a:t>
            </a:r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 err="1">
                <a:latin typeface="Courier" pitchFamily="2" charset="0"/>
              </a:rPr>
              <a:t>unittest.TestCase</a:t>
            </a:r>
            <a:r>
              <a:rPr lang="en-US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def </a:t>
            </a:r>
            <a:r>
              <a:rPr lang="en-US" sz="2400" dirty="0" err="1">
                <a:latin typeface="Courier" pitchFamily="2" charset="0"/>
              </a:rPr>
              <a:t>test_values</a:t>
            </a:r>
            <a:r>
              <a:rPr lang="en-US" sz="2400" dirty="0">
                <a:latin typeface="Courier" pitchFamily="2" charset="0"/>
              </a:rPr>
              <a:t>(self):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	with </a:t>
            </a:r>
            <a:r>
              <a:rPr lang="en-US" sz="2400" dirty="0" err="1">
                <a:latin typeface="Courier" pitchFamily="2" charset="0"/>
              </a:rPr>
              <a:t>self.assertRaises</a:t>
            </a:r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 err="1">
                <a:latin typeface="Courier" pitchFamily="2" charset="0"/>
              </a:rPr>
              <a:t>ValueError</a:t>
            </a:r>
            <a:r>
              <a:rPr lang="en-US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			</a:t>
            </a:r>
            <a:r>
              <a:rPr lang="en-US" sz="2400" dirty="0" err="1">
                <a:latin typeface="Courier" pitchFamily="2" charset="0"/>
              </a:rPr>
              <a:t>bmi</a:t>
            </a:r>
            <a:r>
              <a:rPr lang="en-US" sz="2400" dirty="0">
                <a:latin typeface="Courier" pitchFamily="2" charset="0"/>
              </a:rPr>
              <a:t>(-1, 3)</a:t>
            </a:r>
          </a:p>
        </p:txBody>
      </p:sp>
    </p:spTree>
    <p:extLst>
      <p:ext uri="{BB962C8B-B14F-4D97-AF65-F5344CB8AC3E}">
        <p14:creationId xmlns:p14="http://schemas.microsoft.com/office/powerpoint/2010/main" val="411220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B2AD-B5D4-D217-BB7C-5149AE41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</a:t>
            </a:r>
            <a:r>
              <a:rPr lang="en-US" dirty="0" err="1"/>
              <a:t>UnitTest</a:t>
            </a:r>
            <a:r>
              <a:rPr lang="en-US" dirty="0"/>
              <a:t> setup </a:t>
            </a:r>
            <a:r>
              <a:rPr lang="en-US" dirty="0" err="1"/>
              <a:t>tearDown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E43C-8E94-B0ED-1A01-F8E3B543F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15199"/>
            <a:ext cx="9613861" cy="45211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 unit test you can add a method to setup and teardown an environment that runs before/after each test.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class </a:t>
            </a:r>
            <a:r>
              <a:rPr lang="en-US" sz="2400" dirty="0" err="1"/>
              <a:t>Mytest</a:t>
            </a:r>
            <a:r>
              <a:rPr lang="en-US" sz="2400" dirty="0"/>
              <a:t>(</a:t>
            </a:r>
            <a:r>
              <a:rPr lang="en-US" sz="2400" dirty="0" err="1"/>
              <a:t>unittest.TestCase</a:t>
            </a:r>
            <a:r>
              <a:rPr lang="en-US" sz="2400" dirty="0"/>
              <a:t>):</a:t>
            </a:r>
          </a:p>
          <a:p>
            <a:pPr marL="457200" lvl="1" indent="0">
              <a:buNone/>
            </a:pPr>
            <a:r>
              <a:rPr lang="en-US" sz="2400" dirty="0"/>
              <a:t>	def </a:t>
            </a:r>
            <a:r>
              <a:rPr lang="en-US" sz="2400" dirty="0" err="1"/>
              <a:t>setUp</a:t>
            </a:r>
            <a:r>
              <a:rPr lang="en-US" sz="2400" dirty="0"/>
              <a:t>(self):</a:t>
            </a:r>
          </a:p>
          <a:p>
            <a:pPr marL="457200" lvl="1" indent="0">
              <a:buNone/>
            </a:pPr>
            <a:r>
              <a:rPr lang="en-US" sz="2400" dirty="0"/>
              <a:t>		”””Run before each test”””</a:t>
            </a:r>
          </a:p>
          <a:p>
            <a:pPr marL="457200" lvl="1" indent="0">
              <a:buNone/>
            </a:pPr>
            <a:r>
              <a:rPr lang="en-US" sz="2400" dirty="0"/>
              <a:t>	def </a:t>
            </a:r>
            <a:r>
              <a:rPr lang="en-US" sz="2400" dirty="0" err="1"/>
              <a:t>tearDown</a:t>
            </a:r>
            <a:r>
              <a:rPr lang="en-US" sz="2400" dirty="0"/>
              <a:t>(self):</a:t>
            </a:r>
          </a:p>
          <a:p>
            <a:pPr marL="457200" lvl="1" indent="0">
              <a:buNone/>
            </a:pPr>
            <a:r>
              <a:rPr lang="en-US" sz="2400" dirty="0"/>
              <a:t>		“””Run after each test”””</a:t>
            </a:r>
          </a:p>
          <a:p>
            <a:pPr marL="457200" lvl="1" indent="0">
              <a:buNone/>
            </a:pPr>
            <a:r>
              <a:rPr lang="en-US" sz="2400" dirty="0"/>
              <a:t>	def </a:t>
            </a:r>
            <a:r>
              <a:rPr lang="en-US" sz="2400" dirty="0" err="1"/>
              <a:t>setUpClass</a:t>
            </a:r>
            <a:r>
              <a:rPr lang="en-US" sz="2400" dirty="0"/>
              <a:t>(self):</a:t>
            </a:r>
          </a:p>
          <a:p>
            <a:pPr marL="457200" lvl="1" indent="0">
              <a:buNone/>
            </a:pPr>
            <a:r>
              <a:rPr lang="en-US" sz="2400" dirty="0"/>
              <a:t>		”””Run once before all tests”””</a:t>
            </a:r>
          </a:p>
          <a:p>
            <a:pPr marL="457200" lvl="1" indent="0">
              <a:buNone/>
            </a:pPr>
            <a:r>
              <a:rPr lang="en-US" sz="2400" dirty="0"/>
              <a:t>	def </a:t>
            </a:r>
            <a:r>
              <a:rPr lang="en-US" sz="2400" dirty="0" err="1"/>
              <a:t>tearDownClass</a:t>
            </a:r>
            <a:r>
              <a:rPr lang="en-US" sz="2400" dirty="0"/>
              <a:t>(self):</a:t>
            </a:r>
          </a:p>
          <a:p>
            <a:pPr marL="457200" lvl="1" indent="0">
              <a:buNone/>
            </a:pPr>
            <a:r>
              <a:rPr lang="en-US" sz="2400" dirty="0"/>
              <a:t>		“””Run once after all tests”””</a:t>
            </a:r>
          </a:p>
        </p:txBody>
      </p:sp>
    </p:spTree>
    <p:extLst>
      <p:ext uri="{BB962C8B-B14F-4D97-AF65-F5344CB8AC3E}">
        <p14:creationId xmlns:p14="http://schemas.microsoft.com/office/powerpoint/2010/main" val="166609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7595-A0D5-A95D-6DE2-B7E34B93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 </a:t>
            </a:r>
            <a:r>
              <a:rPr lang="en-US" dirty="0" err="1"/>
              <a:t>DocTest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77D6-BD6B-FDDE-9085-E3BC21FC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025976"/>
            <a:ext cx="9613861" cy="4502840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/>
              <a:t>Is part of standard python library</a:t>
            </a:r>
          </a:p>
          <a:p>
            <a:r>
              <a:rPr lang="en-US" sz="3400" dirty="0"/>
              <a:t>Tests written with ”””Doc comments in source code”””</a:t>
            </a:r>
          </a:p>
          <a:p>
            <a:r>
              <a:rPr lang="en-US" sz="3400" dirty="0"/>
              <a:t>Assertions written in Doc comments as well.</a:t>
            </a:r>
          </a:p>
          <a:p>
            <a:pPr marL="0" indent="0">
              <a:buNone/>
            </a:pPr>
            <a:r>
              <a:rPr lang="en-US" sz="3400" dirty="0"/>
              <a:t>       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def </a:t>
            </a:r>
            <a:r>
              <a:rPr lang="en-US" sz="2900" b="0" dirty="0" err="1">
                <a:effectLst/>
                <a:latin typeface="Courier" pitchFamily="2" charset="0"/>
              </a:rPr>
              <a:t>add_one</a:t>
            </a:r>
            <a:r>
              <a:rPr lang="en-US" sz="2900" b="0" dirty="0">
                <a:effectLst/>
                <a:latin typeface="Courier" pitchFamily="2" charset="0"/>
              </a:rPr>
              <a:t>(n):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"""Add one to n.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&gt;&gt;&gt; </a:t>
            </a:r>
            <a:r>
              <a:rPr lang="en-US" sz="2900" b="0" dirty="0" err="1">
                <a:effectLst/>
                <a:latin typeface="Courier" pitchFamily="2" charset="0"/>
              </a:rPr>
              <a:t>add_one</a:t>
            </a:r>
            <a:r>
              <a:rPr lang="en-US" sz="2900" b="0" dirty="0">
                <a:effectLst/>
                <a:latin typeface="Courier" pitchFamily="2" charset="0"/>
              </a:rPr>
              <a:t>(3)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4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"""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return n + 1</a:t>
            </a:r>
          </a:p>
          <a:p>
            <a:pPr marL="457200" lvl="1" indent="0">
              <a:buNone/>
            </a:pPr>
            <a:endParaRPr lang="en-US" sz="2900" b="0" dirty="0">
              <a:effectLst/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import </a:t>
            </a:r>
            <a:r>
              <a:rPr lang="en-US" sz="2900" b="0" dirty="0" err="1">
                <a:effectLst/>
                <a:latin typeface="Courier" pitchFamily="2" charset="0"/>
              </a:rPr>
              <a:t>doctest</a:t>
            </a:r>
            <a:endParaRPr lang="en-US" sz="2900" b="0" dirty="0">
              <a:effectLst/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900" b="0" dirty="0">
                <a:effectLst/>
                <a:latin typeface="Courier" pitchFamily="2" charset="0"/>
              </a:rPr>
              <a:t>	</a:t>
            </a:r>
            <a:r>
              <a:rPr lang="en-US" sz="2900" b="0" dirty="0" err="1">
                <a:effectLst/>
                <a:latin typeface="Courier" pitchFamily="2" charset="0"/>
              </a:rPr>
              <a:t>doctest.testmod</a:t>
            </a:r>
            <a:r>
              <a:rPr lang="en-US" sz="2900" b="0" dirty="0">
                <a:effectLst/>
                <a:latin typeface="Courier" pitchFamily="2" charset="0"/>
              </a:rPr>
              <a:t>()</a:t>
            </a:r>
            <a:endParaRPr lang="en-US" sz="29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6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6664-8BE4-65A1-D9DD-B7A77299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05 C++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96BD5-C477-7FE7-4BEA-9FCB725D4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34" y="2092372"/>
            <a:ext cx="9613861" cy="6972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Boost Test is a Popular Testing Framework for C++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011BF-2B2E-1AE5-C772-7470F25E00E1}"/>
              </a:ext>
            </a:extLst>
          </p:cNvPr>
          <p:cNvSpPr txBox="1"/>
          <p:nvPr/>
        </p:nvSpPr>
        <p:spPr>
          <a:xfrm>
            <a:off x="1919705" y="2531194"/>
            <a:ext cx="71350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#define BOOST_TEST_MODULE My Test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&lt;boost/test/included/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unit_test.hpp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BOOST_AUTO_TEST_CASE(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first_test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int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BOOST_TEST(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BOOST_TEST(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8009C-2A09-68C6-F2C7-4DD46FDB2A1A}"/>
              </a:ext>
            </a:extLst>
          </p:cNvPr>
          <p:cNvSpPr txBox="1"/>
          <p:nvPr/>
        </p:nvSpPr>
        <p:spPr>
          <a:xfrm>
            <a:off x="472503" y="5023835"/>
            <a:ext cx="1050479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 g++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test_file.cpp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 ./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a.out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Running 1 test case...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test_file.cpp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(8): error: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first_test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check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2 has failed [1 != 2]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*** 1 failure is detected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the test module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"My Test"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2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3625-6E9D-8BD6-EF2A-3D3A89B4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– Test Driven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85AA-8633-4B1D-638C-C27E92A8A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Refers to the practice of writing test BEFORE you write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Writing tests first helps you understand the specification.</a:t>
            </a:r>
          </a:p>
          <a:p>
            <a:r>
              <a:rPr lang="en-US" dirty="0"/>
              <a:t>Writing test to reproduce a bug proves it is fixed by the change.</a:t>
            </a:r>
          </a:p>
          <a:p>
            <a:r>
              <a:rPr lang="en-US" dirty="0"/>
              <a:t>Running tests as you develop lets you fix bugs early (is faster).</a:t>
            </a:r>
          </a:p>
        </p:txBody>
      </p:sp>
    </p:spTree>
    <p:extLst>
      <p:ext uri="{BB962C8B-B14F-4D97-AF65-F5344CB8AC3E}">
        <p14:creationId xmlns:p14="http://schemas.microsoft.com/office/powerpoint/2010/main" val="3767648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A545-6FA8-C91A-FCC4-AAB0B775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5834-C049-7179-9280-BB2B0F24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115498" cy="4153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Continuous Integration</a:t>
            </a:r>
          </a:p>
          <a:p>
            <a:pPr lvl="1"/>
            <a:r>
              <a:rPr lang="en-US" sz="2400" dirty="0"/>
              <a:t>Jenkins, GitHub Actions, Circle CI, ….</a:t>
            </a:r>
          </a:p>
          <a:p>
            <a:pPr lvl="1"/>
            <a:r>
              <a:rPr lang="en-US" sz="2400" dirty="0"/>
              <a:t>Tools to automate the build and release of your project.</a:t>
            </a:r>
          </a:p>
          <a:p>
            <a:pPr lvl="1"/>
            <a:r>
              <a:rPr lang="en-US" sz="2400" dirty="0"/>
              <a:t>Can run your unit tests to validate before a release.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to run tests?</a:t>
            </a:r>
          </a:p>
          <a:p>
            <a:pPr lvl="1"/>
            <a:r>
              <a:rPr lang="en-US" sz="2400" dirty="0"/>
              <a:t>Run tests after create a pull request, before you merge to main.</a:t>
            </a:r>
          </a:p>
          <a:p>
            <a:pPr lvl="1"/>
            <a:r>
              <a:rPr lang="en-US" sz="2400" dirty="0"/>
              <a:t>Run tests after you commit to main.</a:t>
            </a:r>
          </a:p>
          <a:p>
            <a:pPr lvl="1"/>
            <a:r>
              <a:rPr lang="en-US" sz="2400" dirty="0"/>
              <a:t>Developers run tests manually before committing.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654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E1C3-D64C-7DF6-AC08-417C3A2F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EDA2-F5B8-476D-94C6-5094D6D6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147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Any other questions?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out and write great code 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FILL OUT EVALUTION FORMS.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02555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3490</TotalTime>
  <Words>2046</Words>
  <Application>Microsoft Macintosh PowerPoint</Application>
  <PresentationFormat>Widescreen</PresentationFormat>
  <Paragraphs>307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Courier</vt:lpstr>
      <vt:lpstr>Courier New</vt:lpstr>
      <vt:lpstr>Menlo</vt:lpstr>
      <vt:lpstr>Tahoma</vt:lpstr>
      <vt:lpstr>Trebuchet MS</vt:lpstr>
      <vt:lpstr>Berlin</vt:lpstr>
      <vt:lpstr>Gotcha! How to Write Software Tests to Improve Code Quality</vt:lpstr>
      <vt:lpstr>Clone GIT Repository For Slides and Examples</vt:lpstr>
      <vt:lpstr>Unit Testing Syllabus (with Examples)</vt:lpstr>
      <vt:lpstr>Software Engineering</vt:lpstr>
      <vt:lpstr>What is Unit testing?</vt:lpstr>
      <vt:lpstr>Unit Testing Camps</vt:lpstr>
      <vt:lpstr>What is a Unit?</vt:lpstr>
      <vt:lpstr>Questions</vt:lpstr>
      <vt:lpstr>Test Frameworks</vt:lpstr>
      <vt:lpstr>02 PyTest</vt:lpstr>
      <vt:lpstr>02 PyTest Exception Tests</vt:lpstr>
      <vt:lpstr>Jupyter Notebooks</vt:lpstr>
      <vt:lpstr>02 PyTest Fixtures</vt:lpstr>
      <vt:lpstr>02 Pytest Create and Cleanup Test Data</vt:lpstr>
      <vt:lpstr>Mocks</vt:lpstr>
      <vt:lpstr>02 Pytest Mocks</vt:lpstr>
      <vt:lpstr>Where do you put tests?</vt:lpstr>
      <vt:lpstr>Types of Testing</vt:lpstr>
      <vt:lpstr>Test Helpers</vt:lpstr>
      <vt:lpstr>03 UnitTest Library (alterative to PyTest)</vt:lpstr>
      <vt:lpstr>03 Executing Unit tests</vt:lpstr>
      <vt:lpstr>03 Unit Test Exceptions</vt:lpstr>
      <vt:lpstr>03 UnitTest setup tearDown</vt:lpstr>
      <vt:lpstr>04 DocTest</vt:lpstr>
      <vt:lpstr>05 C++ Testing</vt:lpstr>
      <vt:lpstr>TDD – Test Driven Design</vt:lpstr>
      <vt:lpstr>Continuous Integration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Unit Testing</dc:title>
  <dc:creator>William M. Hasling</dc:creator>
  <cp:lastModifiedBy>William M. Hasling</cp:lastModifiedBy>
  <cp:revision>93</cp:revision>
  <dcterms:created xsi:type="dcterms:W3CDTF">2022-10-19T18:27:53Z</dcterms:created>
  <dcterms:modified xsi:type="dcterms:W3CDTF">2026-01-14T17:16:26Z</dcterms:modified>
</cp:coreProperties>
</file>